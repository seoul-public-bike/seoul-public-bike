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</p:sldIdLst>
  <p:sldSz cy="10287000" cx="18288000"/>
  <p:notesSz cx="6858000" cy="9144000"/>
  <p:embeddedFontLst>
    <p:embeddedFont>
      <p:font typeface="Inter"/>
      <p:regular r:id="rId54"/>
      <p:bold r:id="rId55"/>
      <p:italic r:id="rId56"/>
      <p:boldItalic r:id="rId57"/>
    </p:embeddedFont>
    <p:embeddedFont>
      <p:font typeface="Fira Code"/>
      <p:regular r:id="rId58"/>
      <p:bold r:id="rId59"/>
    </p:embeddedFont>
    <p:embeddedFont>
      <p:font typeface="DM Serif Display"/>
      <p:regular r:id="rId60"/>
      <p: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2" roundtripDataSignature="AMtx7mgTz1SK8Sz6FTDPiJkiSfwQUUF3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47158B-DA59-45C0-8120-35F262ACDED7}">
  <a:tblStyle styleId="{0547158B-DA59-45C0-8120-35F262ACDED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7193BF7-CE77-4B21-A0B0-A419E380E06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customschemas.google.com/relationships/presentationmetadata" Target="metadata"/><Relationship Id="rId61" Type="http://schemas.openxmlformats.org/officeDocument/2006/relationships/font" Target="fonts/DMSerifDisplay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DMSerifDisplay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font" Target="fonts/Inter-bold.fntdata"/><Relationship Id="rId10" Type="http://schemas.openxmlformats.org/officeDocument/2006/relationships/slide" Target="slides/slide3.xml"/><Relationship Id="rId54" Type="http://schemas.openxmlformats.org/officeDocument/2006/relationships/font" Target="fonts/Inter-regular.fntdata"/><Relationship Id="rId13" Type="http://schemas.openxmlformats.org/officeDocument/2006/relationships/slide" Target="slides/slide6.xml"/><Relationship Id="rId57" Type="http://schemas.openxmlformats.org/officeDocument/2006/relationships/font" Target="fonts/Inter-boldItalic.fntdata"/><Relationship Id="rId12" Type="http://schemas.openxmlformats.org/officeDocument/2006/relationships/slide" Target="slides/slide5.xml"/><Relationship Id="rId56" Type="http://schemas.openxmlformats.org/officeDocument/2006/relationships/font" Target="fonts/Inter-italic.fntdata"/><Relationship Id="rId15" Type="http://schemas.openxmlformats.org/officeDocument/2006/relationships/slide" Target="slides/slide8.xml"/><Relationship Id="rId59" Type="http://schemas.openxmlformats.org/officeDocument/2006/relationships/font" Target="fonts/FiraCode-bold.fntdata"/><Relationship Id="rId14" Type="http://schemas.openxmlformats.org/officeDocument/2006/relationships/slide" Target="slides/slide7.xml"/><Relationship Id="rId58" Type="http://schemas.openxmlformats.org/officeDocument/2006/relationships/font" Target="fonts/FiraCode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c0f0f6ad9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c0f0f6ad9_0_6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c0f0f6ad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ec0f0f6ad9_0_3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c0f0f6ad9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ec0f0f6ad9_0_4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c0f0f6ad9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c0f0f6ad9_0_7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ec7cd2734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ec7cd2734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da2ec3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da2ec3e5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c0f0f6ad9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0" name="Google Shape;340;g3ec0f0f6ad9_0_5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c0f0f6ad9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ec0f0f6ad9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c0f0f6a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ec0f0f6ad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ec0f0f6ad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ec0f0f6ad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c0f0f6ad9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c0f0f6ad9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ec0f0f6ad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ec0f0f6ad9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ec0f0f6ad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ec0f0f6ad9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c0f0f6ad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ec0f0f6ad9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ec0f0f6ad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ec0f0f6ad9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c0f0f6ad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ec0f0f6ad9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ec0f0f6ad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3ec0f0f6ad9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c0f0f6ad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ec0f0f6ad9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ec0f0f6ad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3ec0f0f6ad9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c0f0f6ad9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g3ec0f0f6ad9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c0f0f6ad9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ec0f0f6ad9_0_2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ec0f0f6ad9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ec0f0f6ad9_0_2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ec0f0f6ad9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ec0f0f6ad9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ec0f0f6ad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ec0f0f6ad9_0_2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ec0f0f6ad9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ec0f0f6ad9_0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ec0f0f6ad9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ec0f0f6ad9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ec0f0f6ad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ec0f0f6ad9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c0f0f6ad9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g3ec0f0f6ad9_0_2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eda161d87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g3eda161d875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ec47e510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ec47e5102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c0f0f6ad9_0_6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ec0f0f6ad9_0_6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c0f0f6ad9_0_6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c0f0f6ad9_0_620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ec0f0f6ad9_0_6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ec0f0f6ad9_0_6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c0f0f6ad9_0_6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ec0f0f6ad9_0_6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c0f0f6ad9_0_6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c0f0f6ad9_0_62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ec0f0f6ad9_0_6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c0f0f6ad9_0_6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ec0f0f6ad9_0_6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0f0f6ad9_0_632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c0f0f6ad9_0_632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ec0f0f6ad9_0_6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ec0f0f6ad9_0_6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ec0f0f6ad9_0_6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c0f0f6ad9_0_6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ec0f0f6ad9_0_63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ec0f0f6ad9_0_63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ec0f0f6ad9_0_6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ec0f0f6ad9_0_6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c0f0f6ad9_0_6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c0f0f6ad9_0_6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ec0f0f6ad9_0_64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ec0f0f6ad9_0_64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ec0f0f6ad9_0_64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ec0f0f6ad9_0_64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ec0f0f6ad9_0_6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c0f0f6ad9_0_6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ec0f0f6ad9_0_6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c0f0f6ad9_0_6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ec0f0f6ad9_0_6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ec0f0f6ad9_0_6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c0f0f6ad9_0_6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c0f0f6ad9_0_65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ec0f0f6ad9_0_65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ec0f0f6ad9_0_65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ec0f0f6ad9_0_65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ec0f0f6ad9_0_65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ec0f0f6ad9_0_6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c0f0f6ad9_0_666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ec0f0f6ad9_0_66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ec0f0f6ad9_0_666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ec0f0f6ad9_0_6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ec0f0f6ad9_0_6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ec0f0f6ad9_0_6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c0f0f6ad9_0_6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ec0f0f6ad9_0_673"/>
          <p:cNvSpPr txBox="1"/>
          <p:nvPr>
            <p:ph idx="1" type="body"/>
          </p:nvPr>
        </p:nvSpPr>
        <p:spPr>
          <a:xfrm rot="5400000">
            <a:off x="2308951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ec0f0f6ad9_0_6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ec0f0f6ad9_0_6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ec0f0f6ad9_0_6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0f0f6ad9_0_679"/>
          <p:cNvSpPr txBox="1"/>
          <p:nvPr>
            <p:ph type="title"/>
          </p:nvPr>
        </p:nvSpPr>
        <p:spPr>
          <a:xfrm rot="5400000">
            <a:off x="4732351" y="2171689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ec0f0f6ad9_0_679"/>
          <p:cNvSpPr txBox="1"/>
          <p:nvPr>
            <p:ph idx="1" type="body"/>
          </p:nvPr>
        </p:nvSpPr>
        <p:spPr>
          <a:xfrm rot="5400000">
            <a:off x="541350" y="190487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ec0f0f6ad9_0_6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ec0f0f6ad9_0_6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ec0f0f6ad9_0_6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0f0f6ad9_0_6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ec0f0f6ad9_0_6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ec0f0f6ad9_0_6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ec0f0f6ad9_0_6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ec0f0f6ad9_0_6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Relationship Id="rId4" Type="http://schemas.openxmlformats.org/officeDocument/2006/relationships/image" Target="../media/image22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jp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Relationship Id="rId4" Type="http://schemas.openxmlformats.org/officeDocument/2006/relationships/image" Target="../media/image33.png"/><Relationship Id="rId9" Type="http://schemas.openxmlformats.org/officeDocument/2006/relationships/image" Target="../media/image24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Relationship Id="rId4" Type="http://schemas.openxmlformats.org/officeDocument/2006/relationships/image" Target="../media/image25.png"/><Relationship Id="rId5" Type="http://schemas.openxmlformats.org/officeDocument/2006/relationships/image" Target="../media/image37.png"/><Relationship Id="rId6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Relationship Id="rId4" Type="http://schemas.openxmlformats.org/officeDocument/2006/relationships/image" Target="../media/image5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Relationship Id="rId4" Type="http://schemas.openxmlformats.org/officeDocument/2006/relationships/image" Target="../media/image4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Relationship Id="rId4" Type="http://schemas.openxmlformats.org/officeDocument/2006/relationships/image" Target="../media/image44.png"/><Relationship Id="rId5" Type="http://schemas.openxmlformats.org/officeDocument/2006/relationships/image" Target="../media/image50.png"/><Relationship Id="rId6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Relationship Id="rId4" Type="http://schemas.openxmlformats.org/officeDocument/2006/relationships/image" Target="../media/image49.png"/><Relationship Id="rId5" Type="http://schemas.openxmlformats.org/officeDocument/2006/relationships/image" Target="../media/image4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Relationship Id="rId4" Type="http://schemas.openxmlformats.org/officeDocument/2006/relationships/image" Target="../media/image51.png"/><Relationship Id="rId9" Type="http://schemas.openxmlformats.org/officeDocument/2006/relationships/image" Target="../media/image48.png"/><Relationship Id="rId5" Type="http://schemas.openxmlformats.org/officeDocument/2006/relationships/image" Target="../media/image52.png"/><Relationship Id="rId6" Type="http://schemas.openxmlformats.org/officeDocument/2006/relationships/image" Target="../media/image40.png"/><Relationship Id="rId7" Type="http://schemas.openxmlformats.org/officeDocument/2006/relationships/image" Target="../media/image46.png"/><Relationship Id="rId8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Relationship Id="rId4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jpg"/><Relationship Id="rId4" Type="http://schemas.openxmlformats.org/officeDocument/2006/relationships/image" Target="../media/image61.png"/><Relationship Id="rId5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Relationship Id="rId4" Type="http://schemas.openxmlformats.org/officeDocument/2006/relationships/image" Target="../media/image47.png"/><Relationship Id="rId5" Type="http://schemas.openxmlformats.org/officeDocument/2006/relationships/image" Target="../media/image59.png"/><Relationship Id="rId6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jpg"/><Relationship Id="rId4" Type="http://schemas.openxmlformats.org/officeDocument/2006/relationships/image" Target="../media/image6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jpg"/><Relationship Id="rId4" Type="http://schemas.openxmlformats.org/officeDocument/2006/relationships/image" Target="../media/image6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jpg"/><Relationship Id="rId4" Type="http://schemas.openxmlformats.org/officeDocument/2006/relationships/image" Target="../media/image70.png"/><Relationship Id="rId5" Type="http://schemas.openxmlformats.org/officeDocument/2006/relationships/image" Target="../media/image5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jpg"/><Relationship Id="rId4" Type="http://schemas.openxmlformats.org/officeDocument/2006/relationships/image" Target="../media/image5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jpg"/><Relationship Id="rId4" Type="http://schemas.openxmlformats.org/officeDocument/2006/relationships/image" Target="../media/image60.png"/><Relationship Id="rId5" Type="http://schemas.openxmlformats.org/officeDocument/2006/relationships/image" Target="../media/image63.png"/><Relationship Id="rId6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Relationship Id="rId4" Type="http://schemas.openxmlformats.org/officeDocument/2006/relationships/image" Target="../media/image62.png"/><Relationship Id="rId9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68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.jpg"/><Relationship Id="rId4" Type="http://schemas.openxmlformats.org/officeDocument/2006/relationships/image" Target="../media/image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.jp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1"/>
          <p:cNvSpPr txBox="1"/>
          <p:nvPr/>
        </p:nvSpPr>
        <p:spPr>
          <a:xfrm>
            <a:off x="4485814" y="2905079"/>
            <a:ext cx="9316373" cy="229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6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서울 공공 자전거 이용자 수요 예측 프로젝트 발표</a:t>
            </a:r>
            <a:endParaRPr/>
          </a:p>
        </p:txBody>
      </p:sp>
      <p:sp>
        <p:nvSpPr>
          <p:cNvPr id="161" name="Google Shape;161;p1"/>
          <p:cNvSpPr txBox="1"/>
          <p:nvPr/>
        </p:nvSpPr>
        <p:spPr>
          <a:xfrm>
            <a:off x="4180543" y="5356906"/>
            <a:ext cx="9926914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기반 수요 예측으로 운영 효율성 및 지속 가능성 개선</a:t>
            </a:r>
            <a:endParaRPr/>
          </a:p>
        </p:txBody>
      </p:sp>
      <p:sp>
        <p:nvSpPr>
          <p:cNvPr id="162" name="Google Shape;162;p1"/>
          <p:cNvSpPr txBox="1"/>
          <p:nvPr/>
        </p:nvSpPr>
        <p:spPr>
          <a:xfrm>
            <a:off x="7305749" y="8742400"/>
            <a:ext cx="3676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박예인(팀장), 서창환, 이원호, 김도철</a:t>
            </a:r>
            <a:endParaRPr/>
          </a:p>
        </p:txBody>
      </p:sp>
      <p:sp>
        <p:nvSpPr>
          <p:cNvPr id="163" name="Google Shape;163;p1"/>
          <p:cNvSpPr txBox="1"/>
          <p:nvPr/>
        </p:nvSpPr>
        <p:spPr>
          <a:xfrm>
            <a:off x="7418762" y="9161145"/>
            <a:ext cx="345047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c0f0f6ad9_0_68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g3ec0f0f6ad9_0_685"/>
          <p:cNvSpPr txBox="1"/>
          <p:nvPr/>
        </p:nvSpPr>
        <p:spPr>
          <a:xfrm>
            <a:off x="1166400" y="1233825"/>
            <a:ext cx="55254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6399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목차</a:t>
            </a:r>
            <a:endParaRPr/>
          </a:p>
        </p:txBody>
      </p:sp>
      <p:cxnSp>
        <p:nvCxnSpPr>
          <p:cNvPr id="170" name="Google Shape;170;g3ec0f0f6ad9_0_685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g3ec0f0f6ad9_0_685"/>
          <p:cNvSpPr/>
          <p:nvPr/>
        </p:nvSpPr>
        <p:spPr>
          <a:xfrm>
            <a:off x="1166400" y="3232350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01. 프로젝트 개요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c0f0f6ad9_0_685"/>
          <p:cNvSpPr/>
          <p:nvPr/>
        </p:nvSpPr>
        <p:spPr>
          <a:xfrm>
            <a:off x="1166400" y="4755295"/>
            <a:ext cx="5253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02. 프로젝트 목표 및 문제 정의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ec0f0f6ad9_0_685"/>
          <p:cNvSpPr/>
          <p:nvPr/>
        </p:nvSpPr>
        <p:spPr>
          <a:xfrm>
            <a:off x="1175884" y="6267437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03. </a:t>
            </a:r>
            <a:r>
              <a:rPr b="1" lang="en-US" sz="2555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팀 구성 및 역할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ec0f0f6ad9_0_685"/>
          <p:cNvSpPr/>
          <p:nvPr/>
        </p:nvSpPr>
        <p:spPr>
          <a:xfrm>
            <a:off x="1175884" y="7790379"/>
            <a:ext cx="5253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04. </a:t>
            </a:r>
            <a:r>
              <a:rPr b="1" lang="en-US" sz="2555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프로젝트일정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ec0f0f6ad9_0_685"/>
          <p:cNvSpPr/>
          <p:nvPr/>
        </p:nvSpPr>
        <p:spPr>
          <a:xfrm>
            <a:off x="11683196" y="3232350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09. 종합 결론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ec0f0f6ad9_0_685"/>
          <p:cNvSpPr/>
          <p:nvPr/>
        </p:nvSpPr>
        <p:spPr>
          <a:xfrm>
            <a:off x="11683196" y="4755295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10. 향후 개선점 및 미래 로드맵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ec0f0f6ad9_0_685"/>
          <p:cNvSpPr/>
          <p:nvPr/>
        </p:nvSpPr>
        <p:spPr>
          <a:xfrm>
            <a:off x="11692678" y="6267437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11개발 환경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c0f0f6ad9_0_685"/>
          <p:cNvSpPr/>
          <p:nvPr/>
        </p:nvSpPr>
        <p:spPr>
          <a:xfrm>
            <a:off x="6429540" y="3232350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05. </a:t>
            </a:r>
            <a:r>
              <a:rPr b="1" lang="en-US" sz="2555">
                <a:latin typeface="Inter"/>
                <a:ea typeface="Inter"/>
                <a:cs typeface="Inter"/>
                <a:sym typeface="Inter"/>
              </a:rPr>
              <a:t>페르소나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ec0f0f6ad9_0_685"/>
          <p:cNvSpPr/>
          <p:nvPr/>
        </p:nvSpPr>
        <p:spPr>
          <a:xfrm>
            <a:off x="6429540" y="4755295"/>
            <a:ext cx="5253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06. </a:t>
            </a:r>
            <a:r>
              <a:rPr b="1" lang="en-US" sz="2555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데이터 수집 및 전처리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ec0f0f6ad9_0_685"/>
          <p:cNvSpPr/>
          <p:nvPr/>
        </p:nvSpPr>
        <p:spPr>
          <a:xfrm>
            <a:off x="6439022" y="6267437"/>
            <a:ext cx="52635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07. 데이터 분석 인사이트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ec0f0f6ad9_0_685"/>
          <p:cNvSpPr/>
          <p:nvPr/>
        </p:nvSpPr>
        <p:spPr>
          <a:xfrm>
            <a:off x="6439022" y="7790379"/>
            <a:ext cx="5253900" cy="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95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5"/>
              <a:buFont typeface="Inter"/>
              <a:buNone/>
            </a:pPr>
            <a:r>
              <a:rPr b="1" i="0" lang="en-US" sz="2555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08. 웹 서비스 구현</a:t>
            </a:r>
            <a:endParaRPr b="0" i="0" sz="25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ec0f0f6ad9_0_685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88" name="Google Shape;188;p2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2"/>
          <p:cNvSpPr/>
          <p:nvPr/>
        </p:nvSpPr>
        <p:spPr>
          <a:xfrm>
            <a:off x="9144000" y="0"/>
            <a:ext cx="9144000" cy="10287000"/>
          </a:xfrm>
          <a:custGeom>
            <a:rect b="b" l="l" r="r" t="t"/>
            <a:pathLst>
              <a:path extrusionOk="0"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54" l="0" r="0" t="-4954"/>
            </a:stretch>
          </a:blipFill>
          <a:ln>
            <a:noFill/>
          </a:ln>
        </p:spPr>
      </p:sp>
      <p:sp>
        <p:nvSpPr>
          <p:cNvPr id="190" name="Google Shape;190;p2"/>
          <p:cNvSpPr txBox="1"/>
          <p:nvPr/>
        </p:nvSpPr>
        <p:spPr>
          <a:xfrm>
            <a:off x="1166399" y="1233825"/>
            <a:ext cx="3822789" cy="2218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프로젝트 개요</a:t>
            </a:r>
            <a:endParaRPr/>
          </a:p>
        </p:txBody>
      </p:sp>
      <p:sp>
        <p:nvSpPr>
          <p:cNvPr id="191" name="Google Shape;191;p2"/>
          <p:cNvSpPr txBox="1"/>
          <p:nvPr/>
        </p:nvSpPr>
        <p:spPr>
          <a:xfrm>
            <a:off x="880650" y="4537700"/>
            <a:ext cx="7579200" cy="3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서울시 따릉이 이용량 지속 증가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연 100억 이상 적자 발생 문제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예산 부족, 재배치·유지보수 한계, 편의성 저하 위험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목표: 데이터 기반 수요 예측으로 운영 효율성 및 지속 가능성 개선</a:t>
            </a:r>
            <a:endParaRPr/>
          </a:p>
        </p:txBody>
      </p:sp>
      <p:sp>
        <p:nvSpPr>
          <p:cNvPr id="192" name="Google Shape;192;p2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"/>
          <p:cNvSpPr/>
          <p:nvPr/>
        </p:nvSpPr>
        <p:spPr>
          <a:xfrm>
            <a:off x="0" y="-95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3"/>
          <p:cNvSpPr txBox="1"/>
          <p:nvPr/>
        </p:nvSpPr>
        <p:spPr>
          <a:xfrm>
            <a:off x="8174577" y="2532974"/>
            <a:ext cx="8307875" cy="10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문제 정의: 이용량 증가에도 불구하고 운영 효율성이 악화되는 원인은 무엇인가?</a:t>
            </a:r>
            <a:endParaRPr/>
          </a:p>
        </p:txBody>
      </p:sp>
      <p:grpSp>
        <p:nvGrpSpPr>
          <p:cNvPr id="199" name="Google Shape;199;p3"/>
          <p:cNvGrpSpPr/>
          <p:nvPr/>
        </p:nvGrpSpPr>
        <p:grpSpPr>
          <a:xfrm>
            <a:off x="6783262" y="2674320"/>
            <a:ext cx="909958" cy="909958"/>
            <a:chOff x="0" y="0"/>
            <a:chExt cx="812800" cy="812800"/>
          </a:xfrm>
        </p:grpSpPr>
        <p:sp>
          <p:nvSpPr>
            <p:cNvPr id="200" name="Google Shape;20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3"/>
          <p:cNvSpPr txBox="1"/>
          <p:nvPr/>
        </p:nvSpPr>
        <p:spPr>
          <a:xfrm>
            <a:off x="6810680" y="2762847"/>
            <a:ext cx="817023" cy="61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203" name="Google Shape;203;p3"/>
          <p:cNvSpPr txBox="1"/>
          <p:nvPr/>
        </p:nvSpPr>
        <p:spPr>
          <a:xfrm>
            <a:off x="8174577" y="4537650"/>
            <a:ext cx="8307875" cy="10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이용 패턴 분석 및 수요 예측 모델 구축으로 재배치·유지보수 최적화 방안 도출</a:t>
            </a:r>
            <a:endParaRPr/>
          </a:p>
        </p:txBody>
      </p:sp>
      <p:grpSp>
        <p:nvGrpSpPr>
          <p:cNvPr id="204" name="Google Shape;204;p3"/>
          <p:cNvGrpSpPr/>
          <p:nvPr/>
        </p:nvGrpSpPr>
        <p:grpSpPr>
          <a:xfrm>
            <a:off x="6783262" y="4678996"/>
            <a:ext cx="909958" cy="909958"/>
            <a:chOff x="0" y="0"/>
            <a:chExt cx="812800" cy="812800"/>
          </a:xfrm>
        </p:grpSpPr>
        <p:sp>
          <p:nvSpPr>
            <p:cNvPr id="205" name="Google Shape;205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3"/>
          <p:cNvSpPr txBox="1"/>
          <p:nvPr/>
        </p:nvSpPr>
        <p:spPr>
          <a:xfrm>
            <a:off x="6820205" y="4767523"/>
            <a:ext cx="817023" cy="61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8174577" y="6543616"/>
            <a:ext cx="8307875" cy="10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글로벌 도시(뉴욕, 런던) 비교 분석을 통한 운영 효율성 및 지속 가능성 개선</a:t>
            </a:r>
            <a:endParaRPr/>
          </a:p>
        </p:txBody>
      </p:sp>
      <p:grpSp>
        <p:nvGrpSpPr>
          <p:cNvPr id="209" name="Google Shape;209;p3"/>
          <p:cNvGrpSpPr/>
          <p:nvPr/>
        </p:nvGrpSpPr>
        <p:grpSpPr>
          <a:xfrm>
            <a:off x="6783262" y="6684962"/>
            <a:ext cx="909958" cy="909958"/>
            <a:chOff x="0" y="0"/>
            <a:chExt cx="812800" cy="812800"/>
          </a:xfrm>
        </p:grpSpPr>
        <p:sp>
          <p:nvSpPr>
            <p:cNvPr id="210" name="Google Shape;210;p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3"/>
          <p:cNvSpPr txBox="1"/>
          <p:nvPr/>
        </p:nvSpPr>
        <p:spPr>
          <a:xfrm>
            <a:off x="6810680" y="6773490"/>
            <a:ext cx="817023" cy="61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13" name="Google Shape;213;p3"/>
          <p:cNvSpPr txBox="1"/>
          <p:nvPr/>
        </p:nvSpPr>
        <p:spPr>
          <a:xfrm>
            <a:off x="1166400" y="1233825"/>
            <a:ext cx="60720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프로젝트 목표 및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문제 정의</a:t>
            </a:r>
            <a:endParaRPr/>
          </a:p>
        </p:txBody>
      </p:sp>
      <p:cxnSp>
        <p:nvCxnSpPr>
          <p:cNvPr id="214" name="Google Shape;214;p3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3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c0f0f6ad9_0_327"/>
          <p:cNvSpPr/>
          <p:nvPr/>
        </p:nvSpPr>
        <p:spPr>
          <a:xfrm>
            <a:off x="0" y="-4605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g3ec0f0f6ad9_0_327"/>
          <p:cNvSpPr txBox="1"/>
          <p:nvPr/>
        </p:nvSpPr>
        <p:spPr>
          <a:xfrm>
            <a:off x="1166400" y="1233825"/>
            <a:ext cx="7370700" cy="23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5"/>
              <a:buFont typeface="Arial"/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운영상의 적자 규모 및 당면 과제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g3ec0f0f6ad9_0_327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g3ec0f0f6ad9_0_327"/>
          <p:cNvSpPr txBox="1"/>
          <p:nvPr/>
        </p:nvSpPr>
        <p:spPr>
          <a:xfrm>
            <a:off x="1046625" y="5155004"/>
            <a:ext cx="7499400" cy="23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453"/>
              <a:buFont typeface="Arial"/>
              <a:buNone/>
            </a:pPr>
            <a:r>
              <a:rPr b="1" i="0" lang="en-US" sz="15453" u="none" cap="none" strike="noStrike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rPr>
              <a:t>100억+</a:t>
            </a:r>
            <a:endParaRPr b="0" i="0" sz="2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ec0f0f6ad9_0_327"/>
          <p:cNvSpPr txBox="1"/>
          <p:nvPr/>
        </p:nvSpPr>
        <p:spPr>
          <a:xfrm>
            <a:off x="1046625" y="7257673"/>
            <a:ext cx="74994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9"/>
              <a:buFont typeface="Arial"/>
              <a:buNone/>
            </a:pPr>
            <a:r>
              <a:rPr b="0" i="0" lang="en-US" sz="2649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연간 누적 적자 규모 (KRW)</a:t>
            </a:r>
            <a:endParaRPr b="0" i="0" sz="2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ec0f0f6ad9_0_327"/>
          <p:cNvSpPr txBox="1"/>
          <p:nvPr/>
        </p:nvSpPr>
        <p:spPr>
          <a:xfrm>
            <a:off x="9247035" y="5209761"/>
            <a:ext cx="78747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"/>
              <a:buFont typeface="Arial"/>
              <a:buNone/>
            </a:pPr>
            <a:r>
              <a:rPr b="0" i="0" lang="en-US" sz="287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효율성 위주의 운영 체질 개선 요구</a:t>
            </a:r>
            <a:endParaRPr b="0" i="0" sz="206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ec0f0f6ad9_0_327"/>
          <p:cNvSpPr txBox="1"/>
          <p:nvPr/>
        </p:nvSpPr>
        <p:spPr>
          <a:xfrm>
            <a:off x="9247035" y="5868597"/>
            <a:ext cx="74994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7"/>
              <a:buFont typeface="Arial"/>
              <a:buNone/>
            </a:pPr>
            <a:r>
              <a:rPr b="0" i="0" lang="en-US" sz="1987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연 300~350억 원의 운영 예산이 소요되고 있지만, 매년 100억 원 이상의 구조적 운영 적자가 계속되고 있습니다. 이는 과도한 현장 수작업 재배치 비용과 최적화되지 않은 부품 교체 주기에서 기인합니다</a:t>
            </a:r>
            <a:r>
              <a:rPr b="0" i="0" lang="en-US" sz="1987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ec0f0f6ad9_0_32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c0f0f6ad9_0_414"/>
          <p:cNvSpPr/>
          <p:nvPr/>
        </p:nvSpPr>
        <p:spPr>
          <a:xfrm>
            <a:off x="-9487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33" name="Google Shape;233;g3ec0f0f6ad9_0_414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g3ec0f0f6ad9_0_414"/>
          <p:cNvSpPr txBox="1"/>
          <p:nvPr/>
        </p:nvSpPr>
        <p:spPr>
          <a:xfrm>
            <a:off x="1166399" y="1233825"/>
            <a:ext cx="10399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99"/>
              <a:buFont typeface="Arial"/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팀 구성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ec0f0f6ad9_0_414"/>
          <p:cNvSpPr txBox="1"/>
          <p:nvPr/>
        </p:nvSpPr>
        <p:spPr>
          <a:xfrm>
            <a:off x="1166419" y="4020105"/>
            <a:ext cx="6055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전체 프로젝트 매니징 및 일정 관리. 시계열 데이터 가공 및 기상 요인, 계절적 이벤트 영향 분석의 메인 파이프라인 개발을 지휘했습니다.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ec0f0f6ad9_0_414"/>
          <p:cNvSpPr txBox="1"/>
          <p:nvPr/>
        </p:nvSpPr>
        <p:spPr>
          <a:xfrm>
            <a:off x="1166419" y="3228225"/>
            <a:ext cx="605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박예인 (팀장)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ec0f0f6ad9_0_414"/>
          <p:cNvSpPr txBox="1"/>
          <p:nvPr/>
        </p:nvSpPr>
        <p:spPr>
          <a:xfrm>
            <a:off x="8539774" y="4020105"/>
            <a:ext cx="6055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서울 따릉이 이용객들의 국내 거주자와 외국인 관광객 이용 패턴을 분리 탐색하고</a:t>
            </a:r>
            <a:r>
              <a:rPr lang="en-US" sz="1650">
                <a:solidFill>
                  <a:schemeClr val="dk1"/>
                </a:solidFill>
              </a:rPr>
              <a:t> </a:t>
            </a:r>
            <a:r>
              <a:rPr b="0" i="0" lang="en-U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시공간 수요 편차를 규명했습니다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ec0f0f6ad9_0_414"/>
          <p:cNvSpPr txBox="1"/>
          <p:nvPr/>
        </p:nvSpPr>
        <p:spPr>
          <a:xfrm>
            <a:off x="8539774" y="3228225"/>
            <a:ext cx="605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서창환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3ec0f0f6ad9_0_414"/>
          <p:cNvSpPr txBox="1"/>
          <p:nvPr/>
        </p:nvSpPr>
        <p:spPr>
          <a:xfrm>
            <a:off x="1166400" y="7218700"/>
            <a:ext cx="6055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이용 연령대별, 성별 세부 세그먼트를 발굴하고 최신 데이터 상에서 드러나는 청년 이용층 이탈 및 고령층 유입 추이를 집중 분석했습니다.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ec0f0f6ad9_0_414"/>
          <p:cNvSpPr txBox="1"/>
          <p:nvPr/>
        </p:nvSpPr>
        <p:spPr>
          <a:xfrm>
            <a:off x="1166400" y="6426820"/>
            <a:ext cx="605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이원호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ec0f0f6ad9_0_414"/>
          <p:cNvSpPr txBox="1"/>
          <p:nvPr/>
        </p:nvSpPr>
        <p:spPr>
          <a:xfrm>
            <a:off x="8539777" y="7218700"/>
            <a:ext cx="60558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미국 뉴욕(Citi Bike) 및 영국 런던(Santander Cycle) 등의 원시 데이터를 수집 및 표준화하여 글로벌 지표 격차를 비교 분석했습니다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ec0f0f6ad9_0_414"/>
          <p:cNvSpPr txBox="1"/>
          <p:nvPr/>
        </p:nvSpPr>
        <p:spPr>
          <a:xfrm>
            <a:off x="8539777" y="6426820"/>
            <a:ext cx="605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김도철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ec0f0f6ad9_0_414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49" name="Google Shape;249;p5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5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프로젝트 일정</a:t>
            </a:r>
            <a:endParaRPr/>
          </a:p>
        </p:txBody>
      </p:sp>
      <p:sp>
        <p:nvSpPr>
          <p:cNvPr id="251" name="Google Shape;251;p5"/>
          <p:cNvSpPr txBox="1"/>
          <p:nvPr/>
        </p:nvSpPr>
        <p:spPr>
          <a:xfrm>
            <a:off x="2118899" y="2928479"/>
            <a:ext cx="3440951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1단계</a:t>
            </a:r>
            <a:endParaRPr/>
          </a:p>
        </p:txBody>
      </p:sp>
      <p:sp>
        <p:nvSpPr>
          <p:cNvPr id="252" name="Google Shape;252;p5"/>
          <p:cNvSpPr txBox="1"/>
          <p:nvPr/>
        </p:nvSpPr>
        <p:spPr>
          <a:xfrm>
            <a:off x="2118899" y="3679049"/>
            <a:ext cx="3237203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5/21~5/27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수집 및 데이터 확보</a:t>
            </a:r>
            <a:endParaRPr/>
          </a:p>
        </p:txBody>
      </p:sp>
      <p:cxnSp>
        <p:nvCxnSpPr>
          <p:cNvPr id="253" name="Google Shape;253;p5"/>
          <p:cNvCxnSpPr/>
          <p:nvPr/>
        </p:nvCxnSpPr>
        <p:spPr>
          <a:xfrm>
            <a:off x="1175924" y="5715000"/>
            <a:ext cx="1593615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5"/>
          <p:cNvCxnSpPr/>
          <p:nvPr/>
        </p:nvCxnSpPr>
        <p:spPr>
          <a:xfrm>
            <a:off x="1747424" y="3785659"/>
            <a:ext cx="0" cy="194070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sp>
        <p:nvSpPr>
          <p:cNvPr id="255" name="Google Shape;255;p5"/>
          <p:cNvSpPr txBox="1"/>
          <p:nvPr/>
        </p:nvSpPr>
        <p:spPr>
          <a:xfrm>
            <a:off x="5720345" y="7019925"/>
            <a:ext cx="3440951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2단계</a:t>
            </a:r>
            <a:endParaRPr/>
          </a:p>
        </p:txBody>
      </p:sp>
      <p:sp>
        <p:nvSpPr>
          <p:cNvPr id="256" name="Google Shape;256;p5"/>
          <p:cNvSpPr txBox="1"/>
          <p:nvPr/>
        </p:nvSpPr>
        <p:spPr>
          <a:xfrm>
            <a:off x="5720345" y="7770495"/>
            <a:ext cx="3237203" cy="1430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5/28~6/3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 및 모델 학습</a:t>
            </a:r>
            <a:endParaRPr/>
          </a:p>
        </p:txBody>
      </p:sp>
      <p:cxnSp>
        <p:nvCxnSpPr>
          <p:cNvPr id="257" name="Google Shape;257;p5"/>
          <p:cNvCxnSpPr/>
          <p:nvPr/>
        </p:nvCxnSpPr>
        <p:spPr>
          <a:xfrm>
            <a:off x="5348870" y="5684662"/>
            <a:ext cx="0" cy="194070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258" name="Google Shape;258;p5"/>
          <p:cNvSpPr txBox="1"/>
          <p:nvPr/>
        </p:nvSpPr>
        <p:spPr>
          <a:xfrm>
            <a:off x="10079204" y="2928479"/>
            <a:ext cx="3440951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3단계</a:t>
            </a:r>
            <a:endParaRPr/>
          </a:p>
        </p:txBody>
      </p:sp>
      <p:sp>
        <p:nvSpPr>
          <p:cNvPr id="259" name="Google Shape;259;p5"/>
          <p:cNvSpPr txBox="1"/>
          <p:nvPr/>
        </p:nvSpPr>
        <p:spPr>
          <a:xfrm>
            <a:off x="10079204" y="3679049"/>
            <a:ext cx="3237203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6/4~6/7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대시보드 구현 및 UI 개발</a:t>
            </a:r>
            <a:endParaRPr/>
          </a:p>
        </p:txBody>
      </p:sp>
      <p:cxnSp>
        <p:nvCxnSpPr>
          <p:cNvPr id="260" name="Google Shape;260;p5"/>
          <p:cNvCxnSpPr/>
          <p:nvPr/>
        </p:nvCxnSpPr>
        <p:spPr>
          <a:xfrm>
            <a:off x="9707729" y="3785659"/>
            <a:ext cx="0" cy="194070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lg" w="lg" type="oval"/>
            <a:tailEnd len="sm" w="sm" type="none"/>
          </a:ln>
        </p:spPr>
      </p:cxnSp>
      <p:sp>
        <p:nvSpPr>
          <p:cNvPr id="261" name="Google Shape;261;p5"/>
          <p:cNvSpPr txBox="1"/>
          <p:nvPr/>
        </p:nvSpPr>
        <p:spPr>
          <a:xfrm>
            <a:off x="13680650" y="7019925"/>
            <a:ext cx="3440951" cy="608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4단계</a:t>
            </a:r>
            <a:endParaRPr/>
          </a:p>
        </p:txBody>
      </p:sp>
      <p:sp>
        <p:nvSpPr>
          <p:cNvPr id="262" name="Google Shape;262;p5"/>
          <p:cNvSpPr txBox="1"/>
          <p:nvPr/>
        </p:nvSpPr>
        <p:spPr>
          <a:xfrm>
            <a:off x="13680650" y="7770495"/>
            <a:ext cx="3237203" cy="944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6/8~6/11</a:t>
            </a:r>
            <a:endParaRPr/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최종 배포 및 발표 준비</a:t>
            </a:r>
            <a:endParaRPr/>
          </a:p>
        </p:txBody>
      </p:sp>
      <p:cxnSp>
        <p:nvCxnSpPr>
          <p:cNvPr id="263" name="Google Shape;263;p5"/>
          <p:cNvCxnSpPr/>
          <p:nvPr/>
        </p:nvCxnSpPr>
        <p:spPr>
          <a:xfrm>
            <a:off x="13309175" y="5684662"/>
            <a:ext cx="0" cy="1940701"/>
          </a:xfrm>
          <a:prstGeom prst="straightConnector1">
            <a:avLst/>
          </a:prstGeom>
          <a:noFill/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lg" w="lg" type="oval"/>
          </a:ln>
        </p:spPr>
      </p:cxnSp>
      <p:sp>
        <p:nvSpPr>
          <p:cNvPr id="264" name="Google Shape;264;p5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g3ec0f0f6ad9_0_719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g3ec0f0f6ad9_0_719"/>
          <p:cNvSpPr txBox="1"/>
          <p:nvPr/>
        </p:nvSpPr>
        <p:spPr>
          <a:xfrm>
            <a:off x="1166399" y="1233825"/>
            <a:ext cx="10399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프로젝트 일정</a:t>
            </a:r>
            <a:endParaRPr/>
          </a:p>
        </p:txBody>
      </p:sp>
      <p:sp>
        <p:nvSpPr>
          <p:cNvPr id="271" name="Google Shape;271;g3ec0f0f6ad9_0_719"/>
          <p:cNvSpPr txBox="1"/>
          <p:nvPr/>
        </p:nvSpPr>
        <p:spPr>
          <a:xfrm>
            <a:off x="13671125" y="914209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g3ec0f0f6ad9_0_7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400" y="2218725"/>
            <a:ext cx="15643135" cy="49662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g3ec0f0f6ad9_0_7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6950854"/>
            <a:ext cx="15709100" cy="211524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3ec0f0f6ad9_0_719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80" name="Google Shape;280;p7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7"/>
          <p:cNvSpPr/>
          <p:nvPr/>
        </p:nvSpPr>
        <p:spPr>
          <a:xfrm>
            <a:off x="9144000" y="0"/>
            <a:ext cx="9144000" cy="10287000"/>
          </a:xfrm>
          <a:custGeom>
            <a:rect b="b" l="l" r="r" t="t"/>
            <a:pathLst>
              <a:path extrusionOk="0"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54" l="0" r="0" t="-4954"/>
            </a:stretch>
          </a:blipFill>
          <a:ln>
            <a:noFill/>
          </a:ln>
        </p:spPr>
      </p:sp>
      <p:sp>
        <p:nvSpPr>
          <p:cNvPr id="282" name="Google Shape;282;p7"/>
          <p:cNvSpPr txBox="1"/>
          <p:nvPr/>
        </p:nvSpPr>
        <p:spPr>
          <a:xfrm>
            <a:off x="1166400" y="1233825"/>
            <a:ext cx="70350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5826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페르소나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880649" y="4537700"/>
            <a:ext cx="6860100" cy="27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2030 직장인/학생, 평일 출퇴근 및 등하교 필수 이용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기상 영향 및 자전거 관리 품질에 민감한 반응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예시: 마이클 (26세, 미국인 대학 교환학생, 따릉이 매일 통학 이용)</a:t>
            </a:r>
            <a:endParaRPr/>
          </a:p>
        </p:txBody>
      </p:sp>
      <p:sp>
        <p:nvSpPr>
          <p:cNvPr id="284" name="Google Shape;284;p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0" name="Google Shape;290;p8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1" name="Google Shape;291;p8"/>
          <p:cNvSpPr/>
          <p:nvPr/>
        </p:nvSpPr>
        <p:spPr>
          <a:xfrm>
            <a:off x="9144000" y="0"/>
            <a:ext cx="9144000" cy="10287000"/>
          </a:xfrm>
          <a:custGeom>
            <a:rect b="b" l="l" r="r" t="t"/>
            <a:pathLst>
              <a:path extrusionOk="0"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54" l="0" r="0" t="-4954"/>
            </a:stretch>
          </a:blipFill>
          <a:ln>
            <a:noFill/>
          </a:ln>
        </p:spPr>
      </p:sp>
      <p:sp>
        <p:nvSpPr>
          <p:cNvPr id="292" name="Google Shape;292;p8"/>
          <p:cNvSpPr txBox="1"/>
          <p:nvPr/>
        </p:nvSpPr>
        <p:spPr>
          <a:xfrm>
            <a:off x="1166399" y="1243350"/>
            <a:ext cx="3822900" cy="8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26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페르소나</a:t>
            </a:r>
            <a:endParaRPr/>
          </a:p>
        </p:txBody>
      </p:sp>
      <p:sp>
        <p:nvSpPr>
          <p:cNvPr id="293" name="Google Shape;293;p8"/>
          <p:cNvSpPr txBox="1"/>
          <p:nvPr/>
        </p:nvSpPr>
        <p:spPr>
          <a:xfrm>
            <a:off x="880649" y="4537700"/>
            <a:ext cx="6860034" cy="3344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주말 한강, 고궁, 명동 등 관광지 중심으로 자전거 이용 집중</a:t>
            </a:r>
            <a:endParaRPr/>
          </a:p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계절 및 날씨 변화에 따른 이용량 편차가 크게 나타남</a:t>
            </a:r>
            <a:endParaRPr/>
          </a:p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외국인 관광객 및 국내 여가 이용자의 단거리·순환 경로 선호</a:t>
            </a:r>
            <a:endParaRPr/>
          </a:p>
        </p:txBody>
      </p:sp>
      <p:sp>
        <p:nvSpPr>
          <p:cNvPr id="294" name="Google Shape;294;p8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0" name="Google Shape;300;p6"/>
          <p:cNvGrpSpPr/>
          <p:nvPr/>
        </p:nvGrpSpPr>
        <p:grpSpPr>
          <a:xfrm>
            <a:off x="1166399" y="3437701"/>
            <a:ext cx="5026555" cy="5079873"/>
            <a:chOff x="0" y="-47625"/>
            <a:chExt cx="4489857" cy="4537482"/>
          </a:xfrm>
        </p:grpSpPr>
        <p:sp>
          <p:nvSpPr>
            <p:cNvPr id="301" name="Google Shape;301;p6"/>
            <p:cNvSpPr/>
            <p:nvPr/>
          </p:nvSpPr>
          <p:spPr>
            <a:xfrm>
              <a:off x="0" y="0"/>
              <a:ext cx="4489857" cy="4489857"/>
            </a:xfrm>
            <a:custGeom>
              <a:rect b="b" l="l" r="r" t="t"/>
              <a:pathLst>
                <a:path extrusionOk="0"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 cap="sq" cmpd="sng" w="28575">
              <a:solidFill>
                <a:srgbClr val="000000">
                  <a:alpha val="4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6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3" name="Google Shape;303;p6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4" name="Google Shape;304;p6"/>
          <p:cNvGrpSpPr/>
          <p:nvPr/>
        </p:nvGrpSpPr>
        <p:grpSpPr>
          <a:xfrm>
            <a:off x="6630723" y="3437701"/>
            <a:ext cx="5026555" cy="5079873"/>
            <a:chOff x="0" y="-47625"/>
            <a:chExt cx="4489857" cy="4537482"/>
          </a:xfrm>
        </p:grpSpPr>
        <p:sp>
          <p:nvSpPr>
            <p:cNvPr id="305" name="Google Shape;305;p6"/>
            <p:cNvSpPr/>
            <p:nvPr/>
          </p:nvSpPr>
          <p:spPr>
            <a:xfrm>
              <a:off x="0" y="0"/>
              <a:ext cx="4489857" cy="4489857"/>
            </a:xfrm>
            <a:custGeom>
              <a:rect b="b" l="l" r="r" t="t"/>
              <a:pathLst>
                <a:path extrusionOk="0"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 cap="sq" cmpd="sng" w="28575">
              <a:solidFill>
                <a:srgbClr val="000000">
                  <a:alpha val="4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7" name="Google Shape;307;p6"/>
          <p:cNvGrpSpPr/>
          <p:nvPr/>
        </p:nvGrpSpPr>
        <p:grpSpPr>
          <a:xfrm>
            <a:off x="12095047" y="3437701"/>
            <a:ext cx="5026555" cy="5079873"/>
            <a:chOff x="0" y="-47625"/>
            <a:chExt cx="4489857" cy="4537482"/>
          </a:xfrm>
        </p:grpSpPr>
        <p:sp>
          <p:nvSpPr>
            <p:cNvPr id="308" name="Google Shape;308;p6"/>
            <p:cNvSpPr/>
            <p:nvPr/>
          </p:nvSpPr>
          <p:spPr>
            <a:xfrm>
              <a:off x="0" y="0"/>
              <a:ext cx="4489857" cy="4489857"/>
            </a:xfrm>
            <a:custGeom>
              <a:rect b="b" l="l" r="r" t="t"/>
              <a:pathLst>
                <a:path extrusionOk="0"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 cap="sq" cmpd="sng" w="28575">
              <a:solidFill>
                <a:srgbClr val="000000">
                  <a:alpha val="4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6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6"/>
          <p:cNvSpPr/>
          <p:nvPr/>
        </p:nvSpPr>
        <p:spPr>
          <a:xfrm>
            <a:off x="8620433" y="4518851"/>
            <a:ext cx="1176910" cy="1176910"/>
          </a:xfrm>
          <a:custGeom>
            <a:rect b="b" l="l" r="r" t="t"/>
            <a:pathLst>
              <a:path extrusionOk="0" h="1176910" w="1176910">
                <a:moveTo>
                  <a:pt x="0" y="0"/>
                </a:moveTo>
                <a:lnTo>
                  <a:pt x="1176910" y="0"/>
                </a:lnTo>
                <a:lnTo>
                  <a:pt x="1176910" y="1176910"/>
                </a:lnTo>
                <a:lnTo>
                  <a:pt x="0" y="11769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1" name="Google Shape;311;p6"/>
          <p:cNvSpPr/>
          <p:nvPr/>
        </p:nvSpPr>
        <p:spPr>
          <a:xfrm>
            <a:off x="13121356" y="4393920"/>
            <a:ext cx="2753920" cy="1215417"/>
          </a:xfrm>
          <a:custGeom>
            <a:rect b="b" l="l" r="r" t="t"/>
            <a:pathLst>
              <a:path extrusionOk="0" h="1215417" w="2753920">
                <a:moveTo>
                  <a:pt x="0" y="0"/>
                </a:moveTo>
                <a:lnTo>
                  <a:pt x="2753919" y="0"/>
                </a:lnTo>
                <a:lnTo>
                  <a:pt x="2753919" y="1215417"/>
                </a:lnTo>
                <a:lnTo>
                  <a:pt x="0" y="1215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2" name="Google Shape;312;p6"/>
          <p:cNvSpPr txBox="1"/>
          <p:nvPr/>
        </p:nvSpPr>
        <p:spPr>
          <a:xfrm>
            <a:off x="1166400" y="1252875"/>
            <a:ext cx="58392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1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데이터 수집 및 전처리</a:t>
            </a:r>
            <a:endParaRPr/>
          </a:p>
        </p:txBody>
      </p:sp>
      <p:sp>
        <p:nvSpPr>
          <p:cNvPr id="313" name="Google Shape;313;p6"/>
          <p:cNvSpPr txBox="1"/>
          <p:nvPr/>
        </p:nvSpPr>
        <p:spPr>
          <a:xfrm>
            <a:off x="1541259" y="6032820"/>
            <a:ext cx="4276833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공공 자전거 데이터 수집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따릉이, 뉴욕 Citi Bike, 런던 TfL 등 다양한 공공 자전거 데이터 수집</a:t>
            </a:r>
            <a:endParaRPr/>
          </a:p>
        </p:txBody>
      </p:sp>
      <p:sp>
        <p:nvSpPr>
          <p:cNvPr id="314" name="Google Shape;314;p6"/>
          <p:cNvSpPr txBox="1"/>
          <p:nvPr/>
        </p:nvSpPr>
        <p:spPr>
          <a:xfrm>
            <a:off x="7005583" y="6032820"/>
            <a:ext cx="4276833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시계열 파생변수 생성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시간대, 요일, 계절 등 파생변수 생성 및 스케일링 처리</a:t>
            </a:r>
            <a:endParaRPr/>
          </a:p>
        </p:txBody>
      </p:sp>
      <p:sp>
        <p:nvSpPr>
          <p:cNvPr id="315" name="Google Shape;315;p6"/>
          <p:cNvSpPr txBox="1"/>
          <p:nvPr/>
        </p:nvSpPr>
        <p:spPr>
          <a:xfrm>
            <a:off x="12469907" y="6032820"/>
            <a:ext cx="4276833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DB 병합 및 통합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다중 소스 데이터 정제 후 분석용 통합 DB 구축</a:t>
            </a:r>
            <a:endParaRPr/>
          </a:p>
        </p:txBody>
      </p:sp>
      <p:sp>
        <p:nvSpPr>
          <p:cNvPr id="316" name="Google Shape;316;p6"/>
          <p:cNvSpPr/>
          <p:nvPr/>
        </p:nvSpPr>
        <p:spPr>
          <a:xfrm>
            <a:off x="3088197" y="4294926"/>
            <a:ext cx="1187390" cy="1446845"/>
          </a:xfrm>
          <a:custGeom>
            <a:rect b="b" l="l" r="r" t="t"/>
            <a:pathLst>
              <a:path extrusionOk="0" h="1446845" w="1187390">
                <a:moveTo>
                  <a:pt x="0" y="0"/>
                </a:moveTo>
                <a:lnTo>
                  <a:pt x="1187390" y="0"/>
                </a:lnTo>
                <a:lnTo>
                  <a:pt x="1187390" y="1446845"/>
                </a:lnTo>
                <a:lnTo>
                  <a:pt x="0" y="14468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7" name="Google Shape;317;p6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ec7cd27347_1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3" name="Google Shape;323;g3ec7cd27347_1_0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g3ec7cd27347_1_0"/>
          <p:cNvSpPr txBox="1"/>
          <p:nvPr/>
        </p:nvSpPr>
        <p:spPr>
          <a:xfrm>
            <a:off x="1166400" y="1252875"/>
            <a:ext cx="58392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1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데이터 수집 및 전처리</a:t>
            </a:r>
            <a:endParaRPr/>
          </a:p>
        </p:txBody>
      </p:sp>
      <p:sp>
        <p:nvSpPr>
          <p:cNvPr id="325" name="Google Shape;325;g3ec7cd27347_1_0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  <p:pic>
        <p:nvPicPr>
          <p:cNvPr id="326" name="Google Shape;326;g3ec7cd27347_1_0" title="스크린샷 2026-06-18 1122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400" y="2234550"/>
            <a:ext cx="15973274" cy="66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da2ec3e58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2" name="Google Shape;332;g3eda2ec3e58_0_0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g3eda2ec3e58_0_0"/>
          <p:cNvSpPr txBox="1"/>
          <p:nvPr/>
        </p:nvSpPr>
        <p:spPr>
          <a:xfrm>
            <a:off x="1166400" y="1252875"/>
            <a:ext cx="58392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21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데이터 수집 및 전처리</a:t>
            </a:r>
            <a:endParaRPr/>
          </a:p>
        </p:txBody>
      </p:sp>
      <p:sp>
        <p:nvSpPr>
          <p:cNvPr id="334" name="Google Shape;334;g3eda2ec3e58_0_0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  <p:pic>
        <p:nvPicPr>
          <p:cNvPr id="335" name="Google Shape;335;g3eda2ec3e58_0_0" title="스크린샷 2026-06-17 1754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6400" y="2514775"/>
            <a:ext cx="8412850" cy="517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eda2ec3e58_0_0" title="스크린샷 2026-06-18 1032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54750" y="2514784"/>
            <a:ext cx="5953125" cy="2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eda2ec3e58_0_0" title="스크린샷 2026-06-18 103209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54750" y="5069774"/>
            <a:ext cx="5953125" cy="24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c0f0f6ad9_0_595"/>
          <p:cNvSpPr/>
          <p:nvPr/>
        </p:nvSpPr>
        <p:spPr>
          <a:xfrm>
            <a:off x="0" y="10770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g3ec0f0f6ad9_0_595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g3ec0f0f6ad9_0_595"/>
          <p:cNvSpPr txBox="1"/>
          <p:nvPr/>
        </p:nvSpPr>
        <p:spPr>
          <a:xfrm>
            <a:off x="1166400" y="1252875"/>
            <a:ext cx="83331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4"/>
              <a:buFont typeface="Arial"/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ec0f0f6ad9_0_595"/>
          <p:cNvSpPr txBox="1"/>
          <p:nvPr/>
        </p:nvSpPr>
        <p:spPr>
          <a:xfrm>
            <a:off x="1175924" y="2411433"/>
            <a:ext cx="115386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0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시간대별·요일별 이용 패턴 분석 및 서울·뉴욕·런던 도시 간 수요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ec0f0f6ad9_0_595"/>
          <p:cNvSpPr txBox="1"/>
          <p:nvPr/>
        </p:nvSpPr>
        <p:spPr>
          <a:xfrm>
            <a:off x="1175924" y="3642063"/>
            <a:ext cx="48336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평균 수요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ec0f0f6ad9_0_595"/>
          <p:cNvSpPr txBox="1"/>
          <p:nvPr/>
        </p:nvSpPr>
        <p:spPr>
          <a:xfrm>
            <a:off x="1166399" y="4852373"/>
            <a:ext cx="48432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피크 시간대 (출근): 오전 8시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피크 시간대 (퇴근): 오후 6시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최저 시간대: 새벽 3~4시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출퇴근 시간대에 수요 집중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평일 출근 피크가 퇴근 피크보다 뚜렷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주말은 오후 12~3시에 완만한 피크 형성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야간(22시 이후) 수요는 평일 대비 주말이 높음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ec0f0f6ad9_0_595"/>
          <p:cNvSpPr txBox="1"/>
          <p:nvPr/>
        </p:nvSpPr>
        <p:spPr>
          <a:xfrm>
            <a:off x="6731959" y="3642063"/>
            <a:ext cx="48336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요일별 평일 vs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주말 이용 패턴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g3ec0f0f6ad9_0_595"/>
          <p:cNvSpPr txBox="1"/>
          <p:nvPr/>
        </p:nvSpPr>
        <p:spPr>
          <a:xfrm>
            <a:off x="6722434" y="4852373"/>
            <a:ext cx="4843200" cy="24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평일 이용량이 주말 대비 평균 약 1.5배 높음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월요일~금요일: 출퇴근 목적 이용 집중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토·일요일: 여가·관광 목적 이용 비중 증가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수요일 이용량이 평일 중 최고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금요일 저녁 이용량 특이 증가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주말 한강·고궁 인근 대여소 집중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ec0f0f6ad9_0_595"/>
          <p:cNvSpPr txBox="1"/>
          <p:nvPr/>
        </p:nvSpPr>
        <p:spPr>
          <a:xfrm>
            <a:off x="12287994" y="3642063"/>
            <a:ext cx="4833600" cy="9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서울·뉴욕·런던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8"/>
              <a:buFont typeface="Arial"/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도시 간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3ec0f0f6ad9_0_595"/>
          <p:cNvSpPr txBox="1"/>
          <p:nvPr/>
        </p:nvSpPr>
        <p:spPr>
          <a:xfrm>
            <a:off x="12278469" y="4852373"/>
            <a:ext cx="48432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서울: 출퇴근 피크 가장 뚜렷, 전체 수요 최고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뉴욕: 피크 분산, 관광·여가 이용 비중 높음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런던: 전반적으로 완만한 수요 곡선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평일 피크 집중도: 타 도시 대비 약 2배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런던은 연중 이용량 변동폭 가장 작음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뉴욕은 주말 심야 이용 비율이 가장 높음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8"/>
              <a:buFont typeface="Arial"/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세 도시 모두 기상 요인이 수요에 유의미한 영향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3ec0f0f6ad9_0_595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ec0f0f6ad9_0_10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58" name="Google Shape;358;g3ec0f0f6ad9_0_100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g3ec0f0f6ad9_0_100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360" name="Google Shape;360;g3ec0f0f6ad9_0_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85543" y="2160350"/>
            <a:ext cx="7899259" cy="3427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1" name="Google Shape;361;g3ec0f0f6ad9_0_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6400" y="2160350"/>
            <a:ext cx="7619143" cy="3427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2" name="Google Shape;362;g3ec0f0f6ad9_0_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6400" y="5587755"/>
            <a:ext cx="7768538" cy="35543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3" name="Google Shape;363;g3ec0f0f6ad9_0_1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2660" y="6213393"/>
            <a:ext cx="8440815" cy="258415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g3ec0f0f6ad9_0_100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c0f0f6ad9_0_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70" name="Google Shape;370;g3ec0f0f6ad9_0_0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g3ec0f0f6ad9_0_0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372" name="Google Shape;372;g3ec0f0f6ad9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4790034"/>
            <a:ext cx="15330648" cy="4062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73" name="Google Shape;373;g3ec0f0f6ad9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6400" y="2348150"/>
            <a:ext cx="11138674" cy="238193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g3ec0f0f6ad9_0_0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ec0f0f6ad9_0_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0" name="Google Shape;380;g3ec0f0f6ad9_0_17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g3ec0f0f6ad9_0_17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382" name="Google Shape;382;g3ec0f0f6ad9_0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314125"/>
            <a:ext cx="15089799" cy="682797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g3ec0f0f6ad9_0_1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ec0f0f6ad9_0_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89" name="Google Shape;389;g3ec0f0f6ad9_0_28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g3ec0f0f6ad9_0_28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391" name="Google Shape;391;g3ec0f0f6ad9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738" y="2893350"/>
            <a:ext cx="16058527" cy="565466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g3ec0f0f6ad9_0_28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ec0f0f6ad9_0_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98" name="Google Shape;398;g3ec0f0f6ad9_0_38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g3ec0f0f6ad9_0_38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400" name="Google Shape;400;g3ec0f0f6ad9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643300"/>
            <a:ext cx="7624000" cy="62674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1" name="Google Shape;401;g3ec0f0f6ad9_0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51075" y="3893113"/>
            <a:ext cx="7624000" cy="376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g3ec0f0f6ad9_0_38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c0f0f6ad9_0_4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08" name="Google Shape;408;g3ec0f0f6ad9_0_49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9" name="Google Shape;409;g3ec0f0f6ad9_0_49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410" name="Google Shape;410;g3ec0f0f6ad9_0_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399" y="2359500"/>
            <a:ext cx="6619722" cy="33217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1" name="Google Shape;411;g3ec0f0f6ad9_0_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6118" y="2359500"/>
            <a:ext cx="6758210" cy="33871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2" name="Google Shape;412;g3ec0f0f6ad9_0_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2328" y="5681251"/>
            <a:ext cx="6896698" cy="3460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3" name="Google Shape;413;g3ec0f0f6ad9_0_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6399" y="5681251"/>
            <a:ext cx="6905931" cy="3460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14" name="Google Shape;414;g3ec0f0f6ad9_0_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15374" y="4454003"/>
            <a:ext cx="8770901" cy="24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ec0f0f6ad9_0_49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ec0f0f6ad9_0_6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21" name="Google Shape;421;g3ec0f0f6ad9_0_64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g3ec0f0f6ad9_0_64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sp>
        <p:nvSpPr>
          <p:cNvPr id="423" name="Google Shape;423;g3ec0f0f6ad9_0_64"/>
          <p:cNvSpPr txBox="1"/>
          <p:nvPr/>
        </p:nvSpPr>
        <p:spPr>
          <a:xfrm>
            <a:off x="1166399" y="9142095"/>
            <a:ext cx="34506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따릉이 수요 예측 프로젝트</a:t>
            </a:r>
            <a:endParaRPr/>
          </a:p>
        </p:txBody>
      </p:sp>
      <p:pic>
        <p:nvPicPr>
          <p:cNvPr descr="preencoded.png" id="424" name="Google Shape;424;g3ec0f0f6ad9_0_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399" y="2330825"/>
            <a:ext cx="4714521" cy="3670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5" name="Google Shape;425;g3ec0f0f6ad9_0_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80920" y="2330825"/>
            <a:ext cx="4731822" cy="368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6" name="Google Shape;426;g3ec0f0f6ad9_0_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12743" y="2330825"/>
            <a:ext cx="4731822" cy="36865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7" name="Google Shape;427;g3ec0f0f6ad9_0_64"/>
          <p:cNvPicPr preferRelativeResize="0"/>
          <p:nvPr/>
        </p:nvPicPr>
        <p:blipFill rotWithShape="1">
          <a:blip r:embed="rId7">
            <a:alphaModFix/>
          </a:blip>
          <a:srcRect b="8173" l="0" r="0" t="0"/>
          <a:stretch/>
        </p:blipFill>
        <p:spPr>
          <a:xfrm>
            <a:off x="1166399" y="6017343"/>
            <a:ext cx="4714523" cy="33707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8" name="Google Shape;428;g3ec0f0f6ad9_0_64"/>
          <p:cNvPicPr preferRelativeResize="0"/>
          <p:nvPr/>
        </p:nvPicPr>
        <p:blipFill rotWithShape="1">
          <a:blip r:embed="rId8">
            <a:alphaModFix/>
          </a:blip>
          <a:srcRect b="8333" l="0" r="0" t="0"/>
          <a:stretch/>
        </p:blipFill>
        <p:spPr>
          <a:xfrm>
            <a:off x="5863619" y="6001555"/>
            <a:ext cx="4749125" cy="33865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29" name="Google Shape;429;g3ec0f0f6ad9_0_6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4166" y="6735700"/>
            <a:ext cx="8416934" cy="2218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c0f0f6ad9_0_8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35" name="Google Shape;435;g3ec0f0f6ad9_0_83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g3ec0f0f6ad9_0_83"/>
          <p:cNvSpPr txBox="1"/>
          <p:nvPr/>
        </p:nvSpPr>
        <p:spPr>
          <a:xfrm>
            <a:off x="1166400" y="1252875"/>
            <a:ext cx="8329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54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①</a:t>
            </a:r>
            <a:endParaRPr/>
          </a:p>
        </p:txBody>
      </p:sp>
      <p:pic>
        <p:nvPicPr>
          <p:cNvPr descr="preencoded.png" id="437" name="Google Shape;437;g3ec0f0f6ad9_0_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365225"/>
            <a:ext cx="15313448" cy="2387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8" name="Google Shape;438;g3ec0f0f6ad9_0_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6400" y="4513156"/>
            <a:ext cx="15313450" cy="2406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39" name="Google Shape;439;g3ec0f0f6ad9_0_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6400" y="6637397"/>
            <a:ext cx="15313451" cy="2504703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ec0f0f6ad9_0_83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46" name="Google Shape;446;p10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10"/>
          <p:cNvSpPr txBox="1"/>
          <p:nvPr/>
        </p:nvSpPr>
        <p:spPr>
          <a:xfrm>
            <a:off x="1166399" y="1271925"/>
            <a:ext cx="7445029" cy="7606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sp>
        <p:nvSpPr>
          <p:cNvPr id="448" name="Google Shape;448;p10"/>
          <p:cNvSpPr txBox="1"/>
          <p:nvPr/>
        </p:nvSpPr>
        <p:spPr>
          <a:xfrm>
            <a:off x="1175924" y="2411433"/>
            <a:ext cx="11538461" cy="45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계절별 자전거 수요 변화 및 주요 Feature 상관관계 분석 결과</a:t>
            </a:r>
            <a:endParaRPr/>
          </a:p>
        </p:txBody>
      </p:sp>
      <p:sp>
        <p:nvSpPr>
          <p:cNvPr id="449" name="Google Shape;449;p10"/>
          <p:cNvSpPr txBox="1"/>
          <p:nvPr/>
        </p:nvSpPr>
        <p:spPr>
          <a:xfrm>
            <a:off x="1175924" y="3642063"/>
            <a:ext cx="4833608" cy="944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계절별 수요</a:t>
            </a:r>
            <a:endParaRPr/>
          </a:p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변화</a:t>
            </a:r>
            <a:endParaRPr/>
          </a:p>
        </p:txBody>
      </p:sp>
      <p:sp>
        <p:nvSpPr>
          <p:cNvPr id="450" name="Google Shape;450;p10"/>
          <p:cNvSpPr txBox="1"/>
          <p:nvPr/>
        </p:nvSpPr>
        <p:spPr>
          <a:xfrm>
            <a:off x="1166399" y="4852373"/>
            <a:ext cx="4843133" cy="214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봄 (3~5월): 수요 급증, 최고 이용 시즌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여름 (6~8월): 높은 수요 유지, 폭염 시 소폭 감소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가을 (9~11월): 안정적 수요, 쾌적한 날씨 영향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겨울 (12~2월): 수요 최저, 한파·강설 시 급감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계절 진폭이 뉴욕·런던 대비 가장 크게 나타남</a:t>
            </a:r>
            <a:endParaRPr/>
          </a:p>
        </p:txBody>
      </p:sp>
      <p:sp>
        <p:nvSpPr>
          <p:cNvPr id="451" name="Google Shape;451;p10"/>
          <p:cNvSpPr txBox="1"/>
          <p:nvPr/>
        </p:nvSpPr>
        <p:spPr>
          <a:xfrm>
            <a:off x="6731959" y="3642063"/>
            <a:ext cx="4833608" cy="944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상관관계</a:t>
            </a:r>
            <a:endParaRPr/>
          </a:p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히트맵</a:t>
            </a:r>
            <a:endParaRPr/>
          </a:p>
        </p:txBody>
      </p:sp>
      <p:sp>
        <p:nvSpPr>
          <p:cNvPr id="452" name="Google Shape;452;p10"/>
          <p:cNvSpPr txBox="1"/>
          <p:nvPr/>
        </p:nvSpPr>
        <p:spPr>
          <a:xfrm>
            <a:off x="6722434" y="4852373"/>
            <a:ext cx="4843133" cy="2870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기온(temp): 수요와 강한 양의 상관관계 (r ≈ 0.72)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강수량(rainfall): 수요와 음의 상관관계 (r ≈ -0.45)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습도(humidity): 약한 음의 상관관계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풍속(windspeed): 미미한 영향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시간(hour): 피크 시간대와 강한 상관 (r ≈ 0.68)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공휴일 여부: 이용 패턴 역전 현상 확인</a:t>
            </a:r>
            <a:endParaRPr/>
          </a:p>
        </p:txBody>
      </p:sp>
      <p:sp>
        <p:nvSpPr>
          <p:cNvPr id="453" name="Google Shape;453;p10"/>
          <p:cNvSpPr txBox="1"/>
          <p:nvPr/>
        </p:nvSpPr>
        <p:spPr>
          <a:xfrm>
            <a:off x="12287994" y="3642063"/>
            <a:ext cx="4833608" cy="944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시간·요일·도시 간</a:t>
            </a:r>
            <a:endParaRPr/>
          </a:p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상관관계</a:t>
            </a:r>
            <a:endParaRPr/>
          </a:p>
        </p:txBody>
      </p:sp>
      <p:sp>
        <p:nvSpPr>
          <p:cNvPr id="454" name="Google Shape;454;p10"/>
          <p:cNvSpPr txBox="1"/>
          <p:nvPr/>
        </p:nvSpPr>
        <p:spPr>
          <a:xfrm>
            <a:off x="12278469" y="4852373"/>
            <a:ext cx="4843133" cy="2508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시간대: 출퇴근(08시, 18시) 피크와 수요 상관 최고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요일: 평일 vs 주말 이용 패턴 뚜렷하게 구분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서울: 시간 상관계수 0.68, 요일 0.54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뉴욕: 시간 상관계수 0.61, 요일 0.49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런던: 시간 상관계수 0.57, 요일 0.43</a:t>
            </a:r>
            <a:endParaRPr/>
          </a:p>
          <a:p>
            <a:pPr indent="0" lvl="0" marL="0" marR="0" rtl="0" algn="l">
              <a:lnSpc>
                <a:spcPct val="16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도시별 패턴 유사하나 서울 진폭이 가장 큼</a:t>
            </a:r>
            <a:endParaRPr/>
          </a:p>
        </p:txBody>
      </p:sp>
      <p:sp>
        <p:nvSpPr>
          <p:cNvPr id="455" name="Google Shape;455;p10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61" name="Google Shape;461;p12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2"/>
          <p:cNvSpPr/>
          <p:nvPr/>
        </p:nvSpPr>
        <p:spPr>
          <a:xfrm>
            <a:off x="9144000" y="0"/>
            <a:ext cx="9144000" cy="10287000"/>
          </a:xfrm>
          <a:custGeom>
            <a:rect b="b" l="l" r="r" t="t"/>
            <a:pathLst>
              <a:path extrusionOk="0"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954" l="0" r="0" t="-4954"/>
            </a:stretch>
          </a:blipFill>
          <a:ln>
            <a:noFill/>
          </a:ln>
        </p:spPr>
      </p:sp>
      <p:sp>
        <p:nvSpPr>
          <p:cNvPr id="463" name="Google Shape;463;p12"/>
          <p:cNvSpPr txBox="1"/>
          <p:nvPr/>
        </p:nvSpPr>
        <p:spPr>
          <a:xfrm>
            <a:off x="1166401" y="1233825"/>
            <a:ext cx="6574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외국인 이용자 분석</a:t>
            </a:r>
            <a:endParaRPr/>
          </a:p>
        </p:txBody>
      </p:sp>
      <p:sp>
        <p:nvSpPr>
          <p:cNvPr id="464" name="Google Shape;464;p12"/>
          <p:cNvSpPr txBox="1"/>
          <p:nvPr/>
        </p:nvSpPr>
        <p:spPr>
          <a:xfrm>
            <a:off x="13671125" y="914209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"/>
          <p:cNvSpPr txBox="1"/>
          <p:nvPr/>
        </p:nvSpPr>
        <p:spPr>
          <a:xfrm>
            <a:off x="880575" y="3660375"/>
            <a:ext cx="8082000" cy="38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외국인 입국자 수와 자전거 대여·반납 수요 간 상관관계 분석 결과, 거의 무상관(상관계수 ≈ 0)으로 나타남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외국인 이용자는 주말·관광지 중심 단기 이용 패턴으로 내국인과 뚜렷이 구별됨</a:t>
            </a:r>
            <a:endParaRPr/>
          </a:p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계절 및 날씨보다 관광 일정·지역 접근성이 외국인 이용의 주요 결정 요인으로 분석됨</a:t>
            </a:r>
            <a:endParaRPr/>
          </a:p>
        </p:txBody>
      </p:sp>
      <p:sp>
        <p:nvSpPr>
          <p:cNvPr id="466" name="Google Shape;466;p12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ec0f0f6ad9_0_1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72" name="Google Shape;472;g3ec0f0f6ad9_0_128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g3ec0f0f6ad9_0_128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474" name="Google Shape;474;g3ec0f0f6ad9_0_1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482175"/>
            <a:ext cx="9155000" cy="66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g3ec0f0f6ad9_0_128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c0f0f6ad9_0_1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81" name="Google Shape;481;g3ec0f0f6ad9_0_144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g3ec0f0f6ad9_0_144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483" name="Google Shape;483;g3ec0f0f6ad9_0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1972725"/>
            <a:ext cx="7262752" cy="3638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4" name="Google Shape;484;g3ec0f0f6ad9_0_1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58076" y="1915575"/>
            <a:ext cx="7538652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85" name="Google Shape;485;g3ec0f0f6ad9_0_1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7276" y="5760000"/>
            <a:ext cx="7262752" cy="4198405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g3ec0f0f6ad9_0_144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c0f0f6ad9_0_15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492" name="Google Shape;492;g3ec0f0f6ad9_0_157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3" name="Google Shape;493;g3ec0f0f6ad9_0_157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494" name="Google Shape;494;g3ec0f0f6ad9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3" y="2486050"/>
            <a:ext cx="6793780" cy="46051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95" name="Google Shape;495;g3ec0f0f6ad9_0_1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02125" y="2486050"/>
            <a:ext cx="7538650" cy="4605147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ec0f0f6ad9_0_15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c0f0f6ad9_0_17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02" name="Google Shape;502;g3ec0f0f6ad9_0_171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3" name="Google Shape;503;g3ec0f0f6ad9_0_171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04" name="Google Shape;504;g3ec0f0f6ad9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4342122"/>
            <a:ext cx="7918192" cy="2459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5" name="Google Shape;505;g3ec0f0f6ad9_0_1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71283" y="4342122"/>
            <a:ext cx="7918192" cy="2459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6" name="Google Shape;506;g3ec0f0f6ad9_0_1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6400" y="6682549"/>
            <a:ext cx="7918192" cy="2459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7" name="Google Shape;507;g3ec0f0f6ad9_0_1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71283" y="6682549"/>
            <a:ext cx="7918192" cy="2459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8" name="Google Shape;508;g3ec0f0f6ad9_0_17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6400" y="2078775"/>
            <a:ext cx="7918192" cy="2459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09" name="Google Shape;509;g3ec0f0f6ad9_0_17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71283" y="2162862"/>
            <a:ext cx="7918192" cy="2291376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g3ec0f0f6ad9_0_171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c0f0f6ad9_0_18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16" name="Google Shape;516;g3ec0f0f6ad9_0_187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7" name="Google Shape;517;g3ec0f0f6ad9_0_187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18" name="Google Shape;518;g3ec0f0f6ad9_0_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15" y="2215950"/>
            <a:ext cx="14760301" cy="692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3ec0f0f6ad9_0_18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ec0f0f6ad9_0_20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25" name="Google Shape;525;g3ec0f0f6ad9_0_203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g3ec0f0f6ad9_0_203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sp>
        <p:nvSpPr>
          <p:cNvPr id="527" name="Google Shape;527;g3ec0f0f6ad9_0_203"/>
          <p:cNvSpPr txBox="1"/>
          <p:nvPr/>
        </p:nvSpPr>
        <p:spPr>
          <a:xfrm>
            <a:off x="13671125" y="914209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8" name="Google Shape;528;g3ec0f0f6ad9_0_2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379650"/>
            <a:ext cx="8068771" cy="6032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29" name="Google Shape;529;g3ec0f0f6ad9_0_2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35169" y="2515879"/>
            <a:ext cx="7886557" cy="589607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g3ec0f0f6ad9_0_203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ec0f0f6ad9_0_2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36" name="Google Shape;536;g3ec0f0f6ad9_0_214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g3ec0f0f6ad9_0_214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sp>
        <p:nvSpPr>
          <p:cNvPr id="538" name="Google Shape;538;g3ec0f0f6ad9_0_214"/>
          <p:cNvSpPr txBox="1"/>
          <p:nvPr/>
        </p:nvSpPr>
        <p:spPr>
          <a:xfrm>
            <a:off x="13671125" y="914209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9" name="Google Shape;539;g3ec0f0f6ad9_0_2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6501" y="1972725"/>
            <a:ext cx="7240948" cy="3612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0" name="Google Shape;540;g3ec0f0f6ad9_0_2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76501" y="5386421"/>
            <a:ext cx="7240948" cy="3612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1" name="Google Shape;541;g3ec0f0f6ad9_0_2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6400" y="5386421"/>
            <a:ext cx="8243467" cy="3612829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ec0f0f6ad9_0_214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c0f0f6ad9_0_2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48" name="Google Shape;548;g3ec0f0f6ad9_0_227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9" name="Google Shape;549;g3ec0f0f6ad9_0_227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50" name="Google Shape;550;g3ec0f0f6ad9_0_2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215950"/>
            <a:ext cx="15175824" cy="675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g3ec0f0f6ad9_0_22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c0f0f6ad9_0_2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57" name="Google Shape;557;g3ec0f0f6ad9_0_239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8" name="Google Shape;558;g3ec0f0f6ad9_0_239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59" name="Google Shape;559;g3ec0f0f6ad9_0_2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00" y="2322825"/>
            <a:ext cx="9447449" cy="6819274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ec0f0f6ad9_0_239"/>
          <p:cNvSpPr txBox="1"/>
          <p:nvPr/>
        </p:nvSpPr>
        <p:spPr>
          <a:xfrm>
            <a:off x="10992300" y="2081475"/>
            <a:ext cx="6898200" cy="6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2025년 따릉이 이용객의 감소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2024년에는 전체적으로 증가 했지만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2025년시점에서는 전체적으로 감소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70대와 60대는 2025년에도 사용자가 증가하는 추세지만 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작년에 비해 증가치가 줄고 이용자수가 적어 증가치가 미미함 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주고객층이었던 20대의 빠른이탈 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가장 이용자 비율이 높았던 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20대가 -21.5%로 가장 격렬하게 하강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다음으로 감소비율이 큰 연령대는 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10대로 -17.4%로 큰 감소치를 보임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20대 다음으로 사용비율이 높던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30대또한 -10.7%로 감소하여 젊은층의 이탈이 가시화됨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연령대에 따른 사용 순위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2025년 기준으로 30대&gt;20대&gt;40대&gt;50대&gt;10대&gt;60대&gt;70대이상&gt;10대미만 순으로 이용자 수가 많음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34290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55"/>
              <a:buFont typeface="Inter"/>
              <a:buChar char="•"/>
            </a:pPr>
            <a:r>
              <a:rPr b="1"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2023~2025년동안 순위가 변한건 20대와30대 뿐으로 20대는 2023~2024년동안 1위였으나 2025년에 크게 하락해 2위가 됨</a:t>
            </a:r>
            <a:endParaRPr sz="3799">
              <a:solidFill>
                <a:schemeClr val="dk1"/>
              </a:solidFill>
            </a:endParaRPr>
          </a:p>
        </p:txBody>
      </p:sp>
      <p:sp>
        <p:nvSpPr>
          <p:cNvPr id="561" name="Google Shape;561;g3ec0f0f6ad9_0_239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c0f0f6ad9_0_25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67" name="Google Shape;567;g3ec0f0f6ad9_0_253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8" name="Google Shape;568;g3ec0f0f6ad9_0_253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69" name="Google Shape;569;g3ec0f0f6ad9_0_2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6800" y="715525"/>
            <a:ext cx="8954925" cy="39840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70" name="Google Shape;570;g3ec0f0f6ad9_0_2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6800" y="5029932"/>
            <a:ext cx="8954925" cy="3984094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g3ec0f0f6ad9_0_253"/>
          <p:cNvSpPr txBox="1"/>
          <p:nvPr/>
        </p:nvSpPr>
        <p:spPr>
          <a:xfrm>
            <a:off x="309650" y="2047075"/>
            <a:ext cx="7569000" cy="6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연령별 시간대차이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남성 10대 미만의 경우는 저녁의 상승폭이 유달리 높고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아침의 상승폭이 비교적 낮음 다만 남성 10대미만은 사용량이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가장 낮은 비율이라 이상치의 영향을 크게 받는 점을 감안해야함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55"/>
              <a:buFont typeface="Inter"/>
              <a:buChar char="•"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20대는 밤과 새벽 시간대의 사용률이 비교적 크게 관측됨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55"/>
              <a:buFont typeface="Inter"/>
              <a:buChar char="•"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10대의 경우는 오후의 상승이 4시에 가장 높은점을 찍음 다른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연령대가 5~6시에 가장높은 점을 찍는것과 비교하면 특이한 점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하교시간이 퇴근시간보다 빠른 영향으로 보임 또한 저녁에 한번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피크치에 도달하면 아침이 되기 까진 지속적으로 하락하는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다른 연령대와 달리 8시부터 다시 상승치를 보이다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10시전에 하락세로 변하는 특이한 형태를 보임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55"/>
              <a:buFont typeface="Inter"/>
              <a:buChar char="•"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아침과 저녁에 크게 상승하강하는 수치는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50대부터 조금식 줄어들다 60대부터 크게 완만해짐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0050" lvl="0" marL="34290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55"/>
              <a:buFont typeface="Inter"/>
              <a:buChar char="•"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새벽시간대의 사용률은 남성이 여성에 비해 확연히 많은 사용률을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보이나 70대이상의 여성은 남성의 평균치보다 사용률이 크며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반대로 70대이상의 남성은 새벽 이용률이 가장 저조해 </a:t>
            </a:r>
            <a:endParaRPr sz="17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      0시기준으로 70대이상 여성의 절반이하의 수치를 보임</a:t>
            </a:r>
            <a:endParaRPr b="1" sz="2755">
              <a:solidFill>
                <a:srgbClr val="1E1E1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2" name="Google Shape;572;g3ec0f0f6ad9_0_253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ec0f0f6ad9_0_26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78" name="Google Shape;578;g3ec0f0f6ad9_0_267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g3ec0f0f6ad9_0_267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80" name="Google Shape;580;g3ec0f0f6ad9_0_2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6410" y="2122485"/>
            <a:ext cx="10863125" cy="57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ec0f0f6ad9_0_267"/>
          <p:cNvSpPr txBox="1"/>
          <p:nvPr/>
        </p:nvSpPr>
        <p:spPr>
          <a:xfrm>
            <a:off x="12029525" y="3777300"/>
            <a:ext cx="6117000" cy="27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기본적으로 남성 사용자 수가 여성 사용자에 비해 높으며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밤과 새벽시간대 일수록 남성의 비율이 늘고 여성의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비율이 줄어드는 식으로 차이가 벌어지고 있음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사용자비율이 지속적으로 남성이 늘어나고 여성이 줄어들고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있음 20대 사용자의 이탈이 가속화 하고 있는 가운데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2046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855"/>
              <a:buFont typeface="Inter"/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여성사용자의 20대비율이 남성에 비해 큰것또한</a:t>
            </a:r>
            <a:endParaRPr sz="18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5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이유로 추측됨</a:t>
            </a:r>
            <a:endParaRPr sz="2400"/>
          </a:p>
        </p:txBody>
      </p:sp>
      <p:sp>
        <p:nvSpPr>
          <p:cNvPr id="582" name="Google Shape;582;g3ec0f0f6ad9_0_26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ec0f0f6ad9_0_28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88" name="Google Shape;588;g3ec0f0f6ad9_0_282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9" name="Google Shape;589;g3ec0f0f6ad9_0_282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590" name="Google Shape;590;g3ec0f0f6ad9_0_2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5656" y="1972725"/>
            <a:ext cx="7603817" cy="3374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1" name="Google Shape;591;g3ec0f0f6ad9_0_2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6399" y="5680201"/>
            <a:ext cx="7603817" cy="3374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92" name="Google Shape;592;g3ec0f0f6ad9_0_2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85656" y="5680201"/>
            <a:ext cx="7603817" cy="3374424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g3ec0f0f6ad9_0_282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ec0f0f6ad9_0_29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599" name="Google Shape;599;g3ec0f0f6ad9_0_295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g3ec0f0f6ad9_0_295"/>
          <p:cNvSpPr txBox="1"/>
          <p:nvPr/>
        </p:nvSpPr>
        <p:spPr>
          <a:xfrm>
            <a:off x="1166399" y="1271925"/>
            <a:ext cx="7445100" cy="7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52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주요 데이터 분석 인사이트 ②</a:t>
            </a:r>
            <a:endParaRPr/>
          </a:p>
        </p:txBody>
      </p:sp>
      <p:pic>
        <p:nvPicPr>
          <p:cNvPr descr="preencoded.png" id="601" name="Google Shape;601;g3ec0f0f6ad9_0_2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800" y="1972725"/>
            <a:ext cx="5349244" cy="354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2" name="Google Shape;602;g3ec0f0f6ad9_0_2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3241" y="1972725"/>
            <a:ext cx="5349244" cy="354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3" name="Google Shape;603;g3ec0f0f6ad9_0_2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46682" y="1972725"/>
            <a:ext cx="5349244" cy="354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4" name="Google Shape;604;g3ec0f0f6ad9_0_2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9800" y="5599259"/>
            <a:ext cx="5349244" cy="354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5" name="Google Shape;605;g3ec0f0f6ad9_0_29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03241" y="5599259"/>
            <a:ext cx="5349244" cy="3542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6" name="Google Shape;606;g3ec0f0f6ad9_0_29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46682" y="5599259"/>
            <a:ext cx="5349244" cy="354284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g3ec0f0f6ad9_0_295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13" name="Google Shape;613;p11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14" name="Google Shape;614;p11"/>
          <p:cNvGraphicFramePr/>
          <p:nvPr/>
        </p:nvGraphicFramePr>
        <p:xfrm>
          <a:off x="5470711" y="286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{0547158B-DA59-45C0-8120-35F262ACDED7}</a:tableStyleId>
              </a:tblPr>
              <a:tblGrid>
                <a:gridCol w="2912725"/>
                <a:gridCol w="2912725"/>
                <a:gridCol w="2912725"/>
                <a:gridCol w="2912725"/>
              </a:tblGrid>
              <a:tr h="124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서울 (따릉이)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뉴욕 (Citi Bike)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5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런던 (Santander)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</a:tr>
              <a:tr h="8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월 평균 이용량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최고 수준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중간 수준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최저 수준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피크 시즌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봄·가을 (4~5월, 9~10월)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여름 (6~8월)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여름 (6~8월)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2023 이용량 추이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지속 증가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완만한 증가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완만한 증가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 예측 수요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대폭 증가 예상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소폭 증가 예상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유지 또는 소폭 증가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계절 편차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매우 큼 (겨울 급감)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중간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33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낮음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5" name="Google Shape;615;p11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도시별 자전거 수요 비교</a:t>
            </a:r>
            <a:endParaRPr/>
          </a:p>
        </p:txBody>
      </p:sp>
      <p:sp>
        <p:nvSpPr>
          <p:cNvPr id="616" name="Google Shape;616;p11"/>
          <p:cNvSpPr txBox="1"/>
          <p:nvPr/>
        </p:nvSpPr>
        <p:spPr>
          <a:xfrm>
            <a:off x="13671125" y="914209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1"/>
          <p:cNvSpPr txBox="1"/>
          <p:nvPr/>
        </p:nvSpPr>
        <p:spPr>
          <a:xfrm>
            <a:off x="1166399" y="2939259"/>
            <a:ext cx="3588175" cy="2887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서울, 뉴욕, 런던의 월별 이용량 추이를 비교합니다. 서울이 가장 높은 수요를 보이며, 런던이 최저 수요를 기록합니다. 2023~2026년 예측치 포함.</a:t>
            </a:r>
            <a:endParaRPr/>
          </a:p>
        </p:txBody>
      </p:sp>
      <p:sp>
        <p:nvSpPr>
          <p:cNvPr id="618" name="Google Shape;618;p11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24" name="Google Shape;624;p13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25" name="Google Shape;625;p13"/>
          <p:cNvGraphicFramePr/>
          <p:nvPr/>
        </p:nvGraphicFramePr>
        <p:xfrm>
          <a:off x="5470711" y="286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{0547158B-DA59-45C0-8120-35F262ACDED7}</a:tableStyleId>
              </a:tblPr>
              <a:tblGrid>
                <a:gridCol w="2912725"/>
                <a:gridCol w="2912725"/>
                <a:gridCol w="2912725"/>
                <a:gridCol w="2912725"/>
              </a:tblGrid>
              <a:tr h="151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2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2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정확도 (Acc)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2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 점수 (Macro)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328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</a:tr>
              <a:tr h="13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LSTM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/>
                        <a:t>93</a:t>
                      </a: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912"/>
                        <a:t>6</a:t>
                      </a: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</a:t>
                      </a:r>
                      <a:r>
                        <a:rPr lang="en-US" sz="2912"/>
                        <a:t>937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시계열 특화, 순차 패턴 학습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/>
                        <a:t>87</a:t>
                      </a: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912"/>
                        <a:t>9</a:t>
                      </a: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</a:t>
                      </a:r>
                      <a:r>
                        <a:rPr lang="en-US" sz="2912"/>
                        <a:t>879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범용 딥러닝, 빠른 학습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6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/>
                        <a:t>94</a:t>
                      </a: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912"/>
                        <a:t>5</a:t>
                      </a: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</a:t>
                      </a:r>
                      <a:r>
                        <a:rPr lang="en-US" sz="2912"/>
                        <a:t>946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99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12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최고 성능, 트리 기반 앙상블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26" name="Google Shape;626;p13"/>
          <p:cNvSpPr txBox="1"/>
          <p:nvPr/>
        </p:nvSpPr>
        <p:spPr>
          <a:xfrm>
            <a:off x="1166399" y="1233825"/>
            <a:ext cx="10399168" cy="1085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머신러닝 모델 성능 비교 ①</a:t>
            </a:r>
            <a:endParaRPr/>
          </a:p>
        </p:txBody>
      </p:sp>
      <p:sp>
        <p:nvSpPr>
          <p:cNvPr id="627" name="Google Shape;627;p13"/>
          <p:cNvSpPr txBox="1"/>
          <p:nvPr/>
        </p:nvSpPr>
        <p:spPr>
          <a:xfrm>
            <a:off x="1166399" y="3910809"/>
            <a:ext cx="35883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분류 모델(LSTM, DNN, LightGBM)의 정확도(Acc) 및 F1 점수를 비교하여 최적 모델을 도출합니다.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(뉴욕,런던,서울)</a:t>
            </a:r>
            <a:endParaRPr sz="2400"/>
          </a:p>
        </p:txBody>
      </p:sp>
      <p:sp>
        <p:nvSpPr>
          <p:cNvPr id="628" name="Google Shape;628;p13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eda161d875_0_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34" name="Google Shape;634;g3eda161d875_0_3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5" name="Google Shape;635;g3eda161d875_0_3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  <p:sp>
        <p:nvSpPr>
          <p:cNvPr id="636" name="Google Shape;636;g3eda161d875_0_3"/>
          <p:cNvSpPr txBox="1"/>
          <p:nvPr/>
        </p:nvSpPr>
        <p:spPr>
          <a:xfrm>
            <a:off x="1166399" y="1233825"/>
            <a:ext cx="103992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머신러닝 모델 성능 비교 </a:t>
            </a:r>
            <a:r>
              <a:rPr lang="en-US" sz="6350">
                <a:solidFill>
                  <a:schemeClr val="dk1"/>
                </a:solidFill>
              </a:rPr>
              <a:t>②</a:t>
            </a:r>
            <a:endParaRPr sz="6395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37" name="Google Shape;637;g3eda161d875_0_3"/>
          <p:cNvSpPr txBox="1"/>
          <p:nvPr/>
        </p:nvSpPr>
        <p:spPr>
          <a:xfrm>
            <a:off x="1166399" y="3897912"/>
            <a:ext cx="3588300" cy="22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회귀 모델 및 앙상블 결과 비교. Optuna 하이퍼파라미터 튜닝을 통해 최적 모델을 선정하고, 앙상블 기법으로 예측 정확도를 향상시켰습니다.</a:t>
            </a:r>
            <a:endParaRPr/>
          </a:p>
        </p:txBody>
      </p:sp>
      <p:graphicFrame>
        <p:nvGraphicFramePr>
          <p:cNvPr id="638" name="Google Shape;638;g3eda161d875_0_3"/>
          <p:cNvGraphicFramePr/>
          <p:nvPr/>
        </p:nvGraphicFramePr>
        <p:xfrm>
          <a:off x="5470711" y="286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{97193BF7-CE77-4B21-A0B0-A419E380E06C}</a:tableStyleId>
              </a:tblPr>
              <a:tblGrid>
                <a:gridCol w="2912725"/>
                <a:gridCol w="2912725"/>
                <a:gridCol w="2912725"/>
                <a:gridCol w="2912725"/>
              </a:tblGrid>
              <a:tr h="10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</a:tr>
              <a:tr h="10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12.4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8.3%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베이스라인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DNN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7.9%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기본 튜닝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LightGBM + Optuna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6.1%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하이퍼파라미터 최적화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71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앙상블 (최종)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4.8%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최고 성능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ec47e51021_0_0"/>
          <p:cNvSpPr/>
          <p:nvPr/>
        </p:nvSpPr>
        <p:spPr>
          <a:xfrm>
            <a:off x="0" y="-71825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44" name="Google Shape;644;g3ec47e51021_0_0"/>
          <p:cNvCxnSpPr/>
          <p:nvPr/>
        </p:nvCxnSpPr>
        <p:spPr>
          <a:xfrm>
            <a:off x="1166399" y="1028700"/>
            <a:ext cx="6873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5" name="Google Shape;645;g3ec47e51021_0_0"/>
          <p:cNvSpPr txBox="1"/>
          <p:nvPr/>
        </p:nvSpPr>
        <p:spPr>
          <a:xfrm>
            <a:off x="1166399" y="1233825"/>
            <a:ext cx="103992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머신</a:t>
            </a: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러닝 모델 성능 비교 </a:t>
            </a:r>
            <a:r>
              <a:rPr lang="en-US" sz="6300">
                <a:solidFill>
                  <a:schemeClr val="dk1"/>
                </a:solidFill>
              </a:rPr>
              <a:t>③</a:t>
            </a:r>
            <a:endParaRPr sz="6399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646" name="Google Shape;646;g3ec47e51021_0_0"/>
          <p:cNvGraphicFramePr/>
          <p:nvPr/>
        </p:nvGraphicFramePr>
        <p:xfrm>
          <a:off x="1166411" y="23119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{97193BF7-CE77-4B21-A0B0-A419E380E06C}</a:tableStyleId>
              </a:tblPr>
              <a:tblGrid>
                <a:gridCol w="2973225"/>
                <a:gridCol w="2973225"/>
                <a:gridCol w="2973225"/>
                <a:gridCol w="3517800"/>
                <a:gridCol w="3517800"/>
              </a:tblGrid>
              <a:tr h="437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</a:rPr>
                        <a:t>RMSE</a:t>
                      </a:r>
                      <a:endParaRPr sz="26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97"/>
                        <a:buFont typeface="Arial"/>
                        <a:buNone/>
                      </a:pPr>
                      <a:r>
                        <a:rPr b="1" lang="en-US" sz="3097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FFFF"/>
                          </a:solidFill>
                        </a:rPr>
                        <a:t>정확도</a:t>
                      </a:r>
                      <a:endParaRPr sz="2600" u="none" cap="none" strike="noStrike">
                        <a:solidFill>
                          <a:srgbClr val="FFFFFF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400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919"/>
                    </a:solidFill>
                  </a:tcPr>
                </a:tc>
              </a:tr>
              <a:tr h="849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10"/>
                        <a:buFont typeface="Arial"/>
                        <a:buNone/>
                      </a:pPr>
                      <a:r>
                        <a:rPr lang="en-US" sz="271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Linear Regression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45.2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50.4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기본 통계 모델,기준점 제공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61.0%</a:t>
                      </a:r>
                      <a:endParaRPr sz="27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9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Random Forest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28.4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33.5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앙상블 베깅 모델,과적합 방지 및 안정적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82.0%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XGBoost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22.1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27.9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균형 잡힌 부스팅,높은 예측력 제공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89.0%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2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LightGBM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20.5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26.7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최고 성능,빠른 학습 및 대용량 데이터 특화</a:t>
                      </a:r>
                      <a:endParaRPr sz="27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t/>
                      </a:r>
                      <a:endParaRPr sz="2700" u="none" cap="none" strike="noStrike"/>
                    </a:p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2700" u="none" cap="none" strike="noStrike"/>
                        <a:t>91.0%</a:t>
                      </a:r>
                      <a:endParaRPr sz="27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7" name="Google Shape;647;g3ec47e51021_0_0"/>
          <p:cNvSpPr txBox="1"/>
          <p:nvPr/>
        </p:nvSpPr>
        <p:spPr>
          <a:xfrm>
            <a:off x="1166399" y="916114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653" name="Google Shape;653;p15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4" name="Google Shape;654;p15"/>
          <p:cNvSpPr txBox="1"/>
          <p:nvPr/>
        </p:nvSpPr>
        <p:spPr>
          <a:xfrm>
            <a:off x="1166401" y="1233825"/>
            <a:ext cx="6260100" cy="9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9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웹 서비스 구현</a:t>
            </a:r>
            <a:endParaRPr/>
          </a:p>
        </p:txBody>
      </p:sp>
      <p:sp>
        <p:nvSpPr>
          <p:cNvPr id="655" name="Google Shape;655;p15"/>
          <p:cNvSpPr txBox="1"/>
          <p:nvPr/>
        </p:nvSpPr>
        <p:spPr>
          <a:xfrm>
            <a:off x="880649" y="4537700"/>
            <a:ext cx="686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6" name="Google Shape;65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0675" y="1028700"/>
            <a:ext cx="9276249" cy="8113401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15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63" name="Google Shape;663;p16"/>
          <p:cNvGrpSpPr/>
          <p:nvPr/>
        </p:nvGrpSpPr>
        <p:grpSpPr>
          <a:xfrm>
            <a:off x="1166399" y="3437701"/>
            <a:ext cx="5026555" cy="5079873"/>
            <a:chOff x="0" y="-47625"/>
            <a:chExt cx="4489857" cy="4537482"/>
          </a:xfrm>
        </p:grpSpPr>
        <p:sp>
          <p:nvSpPr>
            <p:cNvPr id="664" name="Google Shape;664;p16"/>
            <p:cNvSpPr/>
            <p:nvPr/>
          </p:nvSpPr>
          <p:spPr>
            <a:xfrm>
              <a:off x="0" y="0"/>
              <a:ext cx="4489857" cy="4489857"/>
            </a:xfrm>
            <a:custGeom>
              <a:rect b="b" l="l" r="r" t="t"/>
              <a:pathLst>
                <a:path extrusionOk="0"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 cap="sq" cmpd="sng" w="28575">
              <a:solidFill>
                <a:srgbClr val="000000">
                  <a:alpha val="4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6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66" name="Google Shape;666;p16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7" name="Google Shape;667;p16"/>
          <p:cNvGrpSpPr/>
          <p:nvPr/>
        </p:nvGrpSpPr>
        <p:grpSpPr>
          <a:xfrm>
            <a:off x="6630723" y="3437701"/>
            <a:ext cx="5026555" cy="5079873"/>
            <a:chOff x="0" y="-47625"/>
            <a:chExt cx="4489857" cy="4537482"/>
          </a:xfrm>
        </p:grpSpPr>
        <p:sp>
          <p:nvSpPr>
            <p:cNvPr id="668" name="Google Shape;668;p16"/>
            <p:cNvSpPr/>
            <p:nvPr/>
          </p:nvSpPr>
          <p:spPr>
            <a:xfrm>
              <a:off x="0" y="0"/>
              <a:ext cx="4489857" cy="4489857"/>
            </a:xfrm>
            <a:custGeom>
              <a:rect b="b" l="l" r="r" t="t"/>
              <a:pathLst>
                <a:path extrusionOk="0"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 cap="sq" cmpd="sng" w="28575">
              <a:solidFill>
                <a:srgbClr val="000000">
                  <a:alpha val="4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6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0" name="Google Shape;670;p16"/>
          <p:cNvGrpSpPr/>
          <p:nvPr/>
        </p:nvGrpSpPr>
        <p:grpSpPr>
          <a:xfrm>
            <a:off x="12095047" y="3437701"/>
            <a:ext cx="5026555" cy="5079873"/>
            <a:chOff x="0" y="-47625"/>
            <a:chExt cx="4489857" cy="4537482"/>
          </a:xfrm>
        </p:grpSpPr>
        <p:sp>
          <p:nvSpPr>
            <p:cNvPr id="671" name="Google Shape;671;p16"/>
            <p:cNvSpPr/>
            <p:nvPr/>
          </p:nvSpPr>
          <p:spPr>
            <a:xfrm>
              <a:off x="0" y="0"/>
              <a:ext cx="4489857" cy="4489857"/>
            </a:xfrm>
            <a:custGeom>
              <a:rect b="b" l="l" r="r" t="t"/>
              <a:pathLst>
                <a:path extrusionOk="0"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3"/>
              </a:srgbClr>
            </a:solidFill>
            <a:ln cap="sq" cmpd="sng" w="28575">
              <a:solidFill>
                <a:srgbClr val="000000">
                  <a:alpha val="49803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6"/>
            <p:cNvSpPr txBox="1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3" name="Google Shape;673;p16"/>
          <p:cNvSpPr/>
          <p:nvPr/>
        </p:nvSpPr>
        <p:spPr>
          <a:xfrm>
            <a:off x="8603511" y="4501691"/>
            <a:ext cx="1211139" cy="1215021"/>
          </a:xfrm>
          <a:custGeom>
            <a:rect b="b" l="l" r="r" t="t"/>
            <a:pathLst>
              <a:path extrusionOk="0" h="1215021" w="1211139">
                <a:moveTo>
                  <a:pt x="0" y="0"/>
                </a:moveTo>
                <a:lnTo>
                  <a:pt x="1211139" y="0"/>
                </a:lnTo>
                <a:lnTo>
                  <a:pt x="1211139" y="1215021"/>
                </a:lnTo>
                <a:lnTo>
                  <a:pt x="0" y="1215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4" name="Google Shape;674;p16"/>
          <p:cNvSpPr/>
          <p:nvPr/>
        </p:nvSpPr>
        <p:spPr>
          <a:xfrm>
            <a:off x="13817173" y="4316908"/>
            <a:ext cx="1364305" cy="1367159"/>
          </a:xfrm>
          <a:custGeom>
            <a:rect b="b" l="l" r="r" t="t"/>
            <a:pathLst>
              <a:path extrusionOk="0" h="1367159" w="1364305">
                <a:moveTo>
                  <a:pt x="0" y="0"/>
                </a:moveTo>
                <a:lnTo>
                  <a:pt x="1364305" y="0"/>
                </a:lnTo>
                <a:lnTo>
                  <a:pt x="1364305" y="1367160"/>
                </a:lnTo>
                <a:lnTo>
                  <a:pt x="0" y="1367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5" name="Google Shape;675;p16"/>
          <p:cNvSpPr txBox="1"/>
          <p:nvPr/>
        </p:nvSpPr>
        <p:spPr>
          <a:xfrm>
            <a:off x="1166399" y="1233825"/>
            <a:ext cx="3822789" cy="108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종합 결론</a:t>
            </a:r>
            <a:endParaRPr/>
          </a:p>
        </p:txBody>
      </p:sp>
      <p:sp>
        <p:nvSpPr>
          <p:cNvPr id="676" name="Google Shape;676;p16"/>
          <p:cNvSpPr txBox="1"/>
          <p:nvPr/>
        </p:nvSpPr>
        <p:spPr>
          <a:xfrm>
            <a:off x="1541259" y="6032820"/>
            <a:ext cx="4276833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수요 예측 정확도 향상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LSTM·LightGBM 앙상블로 높은 예측 성능 달성</a:t>
            </a:r>
            <a:endParaRPr/>
          </a:p>
        </p:txBody>
      </p:sp>
      <p:sp>
        <p:nvSpPr>
          <p:cNvPr id="677" name="Google Shape;677;p16"/>
          <p:cNvSpPr txBox="1"/>
          <p:nvPr/>
        </p:nvSpPr>
        <p:spPr>
          <a:xfrm>
            <a:off x="13671125" y="916114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6"/>
          <p:cNvSpPr txBox="1"/>
          <p:nvPr/>
        </p:nvSpPr>
        <p:spPr>
          <a:xfrm>
            <a:off x="7005583" y="6032820"/>
            <a:ext cx="4276833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글로벌 운영 인사이트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서울·뉴욕·런던 비교를 통한 운영 효율화 방향 도출</a:t>
            </a:r>
            <a:endParaRPr/>
          </a:p>
        </p:txBody>
      </p:sp>
      <p:sp>
        <p:nvSpPr>
          <p:cNvPr id="679" name="Google Shape;679;p16"/>
          <p:cNvSpPr txBox="1"/>
          <p:nvPr/>
        </p:nvSpPr>
        <p:spPr>
          <a:xfrm>
            <a:off x="12469907" y="6032820"/>
            <a:ext cx="4276833" cy="123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맞춤 운영 전략</a:t>
            </a:r>
            <a:endParaRPr/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이용 패턴별 재배치·유지보수 최적화 전략 제시</a:t>
            </a:r>
            <a:endParaRPr/>
          </a:p>
        </p:txBody>
      </p:sp>
      <p:sp>
        <p:nvSpPr>
          <p:cNvPr id="680" name="Google Shape;680;p16"/>
          <p:cNvSpPr/>
          <p:nvPr/>
        </p:nvSpPr>
        <p:spPr>
          <a:xfrm>
            <a:off x="3014489" y="4374884"/>
            <a:ext cx="1307333" cy="1304478"/>
          </a:xfrm>
          <a:custGeom>
            <a:rect b="b" l="l" r="r" t="t"/>
            <a:pathLst>
              <a:path extrusionOk="0" h="1304478" w="1307333">
                <a:moveTo>
                  <a:pt x="0" y="0"/>
                </a:moveTo>
                <a:lnTo>
                  <a:pt x="1307333" y="0"/>
                </a:lnTo>
                <a:lnTo>
                  <a:pt x="1307333" y="1304478"/>
                </a:lnTo>
                <a:lnTo>
                  <a:pt x="0" y="1304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1" name="Google Shape;681;p16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7" name="Google Shape;687;p17"/>
          <p:cNvSpPr txBox="1"/>
          <p:nvPr/>
        </p:nvSpPr>
        <p:spPr>
          <a:xfrm>
            <a:off x="8174577" y="2532974"/>
            <a:ext cx="8307875" cy="10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정확도 향상: 실측 데이터 확대 및 결측치 보완으로 예측 모델의 신뢰도 제고</a:t>
            </a:r>
            <a:endParaRPr/>
          </a:p>
        </p:txBody>
      </p:sp>
      <p:grpSp>
        <p:nvGrpSpPr>
          <p:cNvPr id="688" name="Google Shape;688;p17"/>
          <p:cNvGrpSpPr/>
          <p:nvPr/>
        </p:nvGrpSpPr>
        <p:grpSpPr>
          <a:xfrm>
            <a:off x="6783262" y="2674320"/>
            <a:ext cx="909958" cy="909958"/>
            <a:chOff x="0" y="0"/>
            <a:chExt cx="812800" cy="812800"/>
          </a:xfrm>
        </p:grpSpPr>
        <p:sp>
          <p:nvSpPr>
            <p:cNvPr id="689" name="Google Shape;68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1" name="Google Shape;691;p17"/>
          <p:cNvSpPr txBox="1"/>
          <p:nvPr/>
        </p:nvSpPr>
        <p:spPr>
          <a:xfrm>
            <a:off x="6810680" y="2762847"/>
            <a:ext cx="817023" cy="61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692" name="Google Shape;692;p17"/>
          <p:cNvSpPr txBox="1"/>
          <p:nvPr/>
        </p:nvSpPr>
        <p:spPr>
          <a:xfrm>
            <a:off x="8174577" y="4537650"/>
            <a:ext cx="8307875" cy="10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실시간 수요 반영 시스템 개발: 실시간 데이터 파이프라인 구축 및 동적 수요 예측 자동화</a:t>
            </a:r>
            <a:endParaRPr/>
          </a:p>
        </p:txBody>
      </p:sp>
      <p:grpSp>
        <p:nvGrpSpPr>
          <p:cNvPr id="693" name="Google Shape;693;p17"/>
          <p:cNvGrpSpPr/>
          <p:nvPr/>
        </p:nvGrpSpPr>
        <p:grpSpPr>
          <a:xfrm>
            <a:off x="6783262" y="4678996"/>
            <a:ext cx="909958" cy="909958"/>
            <a:chOff x="0" y="0"/>
            <a:chExt cx="812800" cy="812800"/>
          </a:xfrm>
        </p:grpSpPr>
        <p:sp>
          <p:nvSpPr>
            <p:cNvPr id="694" name="Google Shape;694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6" name="Google Shape;696;p17"/>
          <p:cNvSpPr txBox="1"/>
          <p:nvPr/>
        </p:nvSpPr>
        <p:spPr>
          <a:xfrm>
            <a:off x="6820205" y="4767523"/>
            <a:ext cx="817023" cy="61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697" name="Google Shape;697;p17"/>
          <p:cNvSpPr txBox="1"/>
          <p:nvPr/>
        </p:nvSpPr>
        <p:spPr>
          <a:xfrm>
            <a:off x="8174577" y="6543616"/>
            <a:ext cx="8307875" cy="109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이용자 편의성 강화 및 신규 기능 추가: 맞춤형 추천 기능, UI 개선 및 다국어 서비스 확대</a:t>
            </a:r>
            <a:endParaRPr/>
          </a:p>
        </p:txBody>
      </p:sp>
      <p:grpSp>
        <p:nvGrpSpPr>
          <p:cNvPr id="698" name="Google Shape;698;p17"/>
          <p:cNvGrpSpPr/>
          <p:nvPr/>
        </p:nvGrpSpPr>
        <p:grpSpPr>
          <a:xfrm>
            <a:off x="6783262" y="6684962"/>
            <a:ext cx="909958" cy="909958"/>
            <a:chOff x="0" y="0"/>
            <a:chExt cx="812800" cy="812800"/>
          </a:xfrm>
        </p:grpSpPr>
        <p:sp>
          <p:nvSpPr>
            <p:cNvPr id="699" name="Google Shape;69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cap="sq" cmpd="sng" w="2857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1" name="Google Shape;701;p17"/>
          <p:cNvSpPr txBox="1"/>
          <p:nvPr/>
        </p:nvSpPr>
        <p:spPr>
          <a:xfrm>
            <a:off x="6810680" y="6773490"/>
            <a:ext cx="817023" cy="6186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02" name="Google Shape;702;p17"/>
          <p:cNvSpPr txBox="1"/>
          <p:nvPr/>
        </p:nvSpPr>
        <p:spPr>
          <a:xfrm>
            <a:off x="1166399" y="1233825"/>
            <a:ext cx="3822789" cy="3352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향후 개선점 및 미래 로드맵</a:t>
            </a:r>
            <a:endParaRPr/>
          </a:p>
        </p:txBody>
      </p:sp>
      <p:cxnSp>
        <p:nvCxnSpPr>
          <p:cNvPr id="703" name="Google Shape;703;p17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17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10" name="Google Shape;710;p18"/>
          <p:cNvCxnSpPr/>
          <p:nvPr/>
        </p:nvCxnSpPr>
        <p:spPr>
          <a:xfrm>
            <a:off x="1166399" y="1028700"/>
            <a:ext cx="687324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18"/>
          <p:cNvSpPr txBox="1"/>
          <p:nvPr/>
        </p:nvSpPr>
        <p:spPr>
          <a:xfrm>
            <a:off x="1166399" y="1233825"/>
            <a:ext cx="10399168" cy="1085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9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개발 환경 및 마무리</a:t>
            </a:r>
            <a:endParaRPr/>
          </a:p>
        </p:txBody>
      </p:sp>
      <p:sp>
        <p:nvSpPr>
          <p:cNvPr id="712" name="Google Shape;712;p18"/>
          <p:cNvSpPr txBox="1"/>
          <p:nvPr/>
        </p:nvSpPr>
        <p:spPr>
          <a:xfrm>
            <a:off x="13671125" y="9142095"/>
            <a:ext cx="345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1175924" y="2411433"/>
            <a:ext cx="9447306" cy="45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기술 스택 및 배포 환경 소개 · Q&amp;A</a:t>
            </a:r>
            <a:endParaRPr/>
          </a:p>
        </p:txBody>
      </p:sp>
      <p:sp>
        <p:nvSpPr>
          <p:cNvPr id="714" name="Google Shape;714;p18"/>
          <p:cNvSpPr txBox="1"/>
          <p:nvPr/>
        </p:nvSpPr>
        <p:spPr>
          <a:xfrm>
            <a:off x="1180686" y="4232613"/>
            <a:ext cx="3057948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언어 및 분석</a:t>
            </a:r>
            <a:endParaRPr/>
          </a:p>
        </p:txBody>
      </p:sp>
      <p:sp>
        <p:nvSpPr>
          <p:cNvPr id="715" name="Google Shape;715;p18"/>
          <p:cNvSpPr txBox="1"/>
          <p:nvPr/>
        </p:nvSpPr>
        <p:spPr>
          <a:xfrm>
            <a:off x="5589721" y="4232613"/>
            <a:ext cx="6474153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(PANDAS, NUMPY, SCIKIT-LEARN)</a:t>
            </a:r>
            <a:endParaRPr/>
          </a:p>
        </p:txBody>
      </p:sp>
      <p:sp>
        <p:nvSpPr>
          <p:cNvPr id="716" name="Google Shape;716;p18"/>
          <p:cNvSpPr txBox="1"/>
          <p:nvPr/>
        </p:nvSpPr>
        <p:spPr>
          <a:xfrm>
            <a:off x="1180686" y="5200015"/>
            <a:ext cx="3057948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프레임워크</a:t>
            </a:r>
            <a:endParaRPr/>
          </a:p>
        </p:txBody>
      </p:sp>
      <p:sp>
        <p:nvSpPr>
          <p:cNvPr id="717" name="Google Shape;717;p18"/>
          <p:cNvSpPr txBox="1"/>
          <p:nvPr/>
        </p:nvSpPr>
        <p:spPr>
          <a:xfrm>
            <a:off x="5589721" y="5200015"/>
            <a:ext cx="6474153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LIGHTGBM · LSTM · DNN · OPTUNA</a:t>
            </a:r>
            <a:endParaRPr/>
          </a:p>
        </p:txBody>
      </p:sp>
      <p:sp>
        <p:nvSpPr>
          <p:cNvPr id="718" name="Google Shape;718;p18"/>
          <p:cNvSpPr txBox="1"/>
          <p:nvPr/>
        </p:nvSpPr>
        <p:spPr>
          <a:xfrm>
            <a:off x="1180686" y="6167417"/>
            <a:ext cx="3057948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배포 환경</a:t>
            </a:r>
            <a:endParaRPr/>
          </a:p>
        </p:txBody>
      </p:sp>
      <p:sp>
        <p:nvSpPr>
          <p:cNvPr id="719" name="Google Shape;719;p18"/>
          <p:cNvSpPr txBox="1"/>
          <p:nvPr/>
        </p:nvSpPr>
        <p:spPr>
          <a:xfrm>
            <a:off x="5589721" y="6167417"/>
            <a:ext cx="6474153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HUGGINGFACE SPACE (웹 대시보드)</a:t>
            </a:r>
            <a:endParaRPr/>
          </a:p>
        </p:txBody>
      </p:sp>
      <p:sp>
        <p:nvSpPr>
          <p:cNvPr id="720" name="Google Shape;720;p18"/>
          <p:cNvSpPr txBox="1"/>
          <p:nvPr/>
        </p:nvSpPr>
        <p:spPr>
          <a:xfrm>
            <a:off x="1180686" y="7134820"/>
            <a:ext cx="3057948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/>
          </a:p>
        </p:txBody>
      </p:sp>
      <p:sp>
        <p:nvSpPr>
          <p:cNvPr id="721" name="Google Shape;721;p18"/>
          <p:cNvSpPr txBox="1"/>
          <p:nvPr/>
        </p:nvSpPr>
        <p:spPr>
          <a:xfrm>
            <a:off x="5589721" y="7134820"/>
            <a:ext cx="6474153" cy="38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4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발표를 들어주셔서 감사합니다!</a:t>
            </a:r>
            <a:endParaRPr/>
          </a:p>
        </p:txBody>
      </p:sp>
      <p:sp>
        <p:nvSpPr>
          <p:cNvPr id="722" name="Google Shape;722;p18"/>
          <p:cNvSpPr txBox="1"/>
          <p:nvPr/>
        </p:nvSpPr>
        <p:spPr>
          <a:xfrm>
            <a:off x="1166399" y="9161145"/>
            <a:ext cx="34506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서울 공공 자전거 이용자 수요 예측 프로젝트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28" name="Google Shape;728;p19"/>
          <p:cNvSpPr txBox="1"/>
          <p:nvPr/>
        </p:nvSpPr>
        <p:spPr>
          <a:xfrm>
            <a:off x="4485814" y="2886029"/>
            <a:ext cx="9316373" cy="1277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455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감사합니다</a:t>
            </a:r>
            <a:endParaRPr/>
          </a:p>
        </p:txBody>
      </p:sp>
      <p:sp>
        <p:nvSpPr>
          <p:cNvPr id="729" name="Google Shape;729;p19"/>
          <p:cNvSpPr txBox="1"/>
          <p:nvPr/>
        </p:nvSpPr>
        <p:spPr>
          <a:xfrm>
            <a:off x="4180543" y="5347381"/>
            <a:ext cx="9926914" cy="216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Q&amp;A 및 질의응답</a:t>
            </a:r>
            <a:endParaRPr/>
          </a:p>
        </p:txBody>
      </p:sp>
      <p:sp>
        <p:nvSpPr>
          <p:cNvPr id="730" name="Google Shape;730;p19"/>
          <p:cNvSpPr txBox="1"/>
          <p:nvPr/>
        </p:nvSpPr>
        <p:spPr>
          <a:xfrm>
            <a:off x="7671329" y="8509000"/>
            <a:ext cx="2945342" cy="2722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6" u="none" cap="none" strike="noStrike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서울 공공 자전거 이용자 수요 예측</a:t>
            </a:r>
            <a:endParaRPr/>
          </a:p>
        </p:txBody>
      </p:sp>
      <p:sp>
        <p:nvSpPr>
          <p:cNvPr id="731" name="Google Shape;731;p19"/>
          <p:cNvSpPr txBox="1"/>
          <p:nvPr/>
        </p:nvSpPr>
        <p:spPr>
          <a:xfrm>
            <a:off x="7418762" y="9161145"/>
            <a:ext cx="345047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박예인 · 서창환 · 이원호 · 김도철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